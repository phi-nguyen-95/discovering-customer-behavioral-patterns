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258" r:id="rId5"/>
    <p:sldId id="260" r:id="rId6"/>
    <p:sldId id="262" r:id="rId7"/>
    <p:sldId id="263" r:id="rId8"/>
    <p:sldId id="264" r:id="rId9"/>
    <p:sldId id="266" r:id="rId10"/>
    <p:sldId id="267" r:id="rId11"/>
    <p:sldId id="268" r:id="rId12"/>
    <p:sldId id="269" r:id="rId13"/>
    <p:sldId id="270" r:id="rId14"/>
    <p:sldId id="271" r:id="rId15"/>
    <p:sldId id="272" r:id="rId16"/>
    <p:sldId id="274" r:id="rId17"/>
    <p:sldId id="273" r:id="rId18"/>
    <p:sldId id="276"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468"/>
    <p:restoredTop sz="94722"/>
  </p:normalViewPr>
  <p:slideViewPr>
    <p:cSldViewPr snapToGrid="0" snapToObjects="1">
      <p:cViewPr varScale="1">
        <p:scale>
          <a:sx n="107" d="100"/>
          <a:sy n="107" d="100"/>
        </p:scale>
        <p:origin x="160" y="4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4211C2-8243-47A7-976E-B538F0B8A6BE}"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A02FBA8-29AB-4B70-B38A-7014B0D12A8D}">
      <dgm:prSet/>
      <dgm:spPr/>
      <dgm:t>
        <a:bodyPr/>
        <a:lstStyle/>
        <a:p>
          <a:pPr>
            <a:defRPr cap="all"/>
          </a:pPr>
          <a:r>
            <a:rPr lang="en-US" b="1"/>
            <a:t>Unsupervised Learning Project</a:t>
          </a:r>
          <a:endParaRPr lang="en-US"/>
        </a:p>
      </dgm:t>
    </dgm:pt>
    <dgm:pt modelId="{4E336273-6434-43C6-B165-7180E1CEF3B1}" type="parTrans" cxnId="{81F23E99-C99B-4A24-B915-8082E5E1E463}">
      <dgm:prSet/>
      <dgm:spPr/>
      <dgm:t>
        <a:bodyPr/>
        <a:lstStyle/>
        <a:p>
          <a:endParaRPr lang="en-US"/>
        </a:p>
      </dgm:t>
    </dgm:pt>
    <dgm:pt modelId="{5816E3DE-D441-43F1-AA7F-AFFA18CD127F}" type="sibTrans" cxnId="{81F23E99-C99B-4A24-B915-8082E5E1E463}">
      <dgm:prSet/>
      <dgm:spPr/>
      <dgm:t>
        <a:bodyPr/>
        <a:lstStyle/>
        <a:p>
          <a:endParaRPr lang="en-US"/>
        </a:p>
      </dgm:t>
    </dgm:pt>
    <dgm:pt modelId="{66FC287E-4E28-4CA0-8E46-285E8552DBE2}">
      <dgm:prSet/>
      <dgm:spPr/>
      <dgm:t>
        <a:bodyPr/>
        <a:lstStyle/>
        <a:p>
          <a:pPr>
            <a:defRPr cap="all"/>
          </a:pPr>
          <a:r>
            <a:rPr lang="en-US" b="1" dirty="0"/>
            <a:t>DISCOVERING Customer BEHAVIORAL PATTERNS</a:t>
          </a:r>
          <a:endParaRPr lang="en-US" dirty="0"/>
        </a:p>
      </dgm:t>
    </dgm:pt>
    <dgm:pt modelId="{B9077511-B851-4C7C-9C2F-5229D6BFC49C}" type="parTrans" cxnId="{6C35CEDF-ED27-45FB-BA6D-C18320C26EE1}">
      <dgm:prSet/>
      <dgm:spPr/>
      <dgm:t>
        <a:bodyPr/>
        <a:lstStyle/>
        <a:p>
          <a:endParaRPr lang="en-US"/>
        </a:p>
      </dgm:t>
    </dgm:pt>
    <dgm:pt modelId="{B8133E11-0CA0-425E-9B02-CE3E1814B148}" type="sibTrans" cxnId="{6C35CEDF-ED27-45FB-BA6D-C18320C26EE1}">
      <dgm:prSet/>
      <dgm:spPr/>
      <dgm:t>
        <a:bodyPr/>
        <a:lstStyle/>
        <a:p>
          <a:endParaRPr lang="en-US"/>
        </a:p>
      </dgm:t>
    </dgm:pt>
    <dgm:pt modelId="{C2296850-6639-4D8A-B3F6-C94A81F139D4}" type="pres">
      <dgm:prSet presAssocID="{8F4211C2-8243-47A7-976E-B538F0B8A6BE}" presName="root" presStyleCnt="0">
        <dgm:presLayoutVars>
          <dgm:dir/>
          <dgm:resizeHandles val="exact"/>
        </dgm:presLayoutVars>
      </dgm:prSet>
      <dgm:spPr/>
    </dgm:pt>
    <dgm:pt modelId="{385DC55A-ABC1-4E16-9782-4F50E04212EF}" type="pres">
      <dgm:prSet presAssocID="{DA02FBA8-29AB-4B70-B38A-7014B0D12A8D}" presName="compNode" presStyleCnt="0"/>
      <dgm:spPr/>
    </dgm:pt>
    <dgm:pt modelId="{05766066-46DC-45AA-A365-7894DF0CF64B}" type="pres">
      <dgm:prSet presAssocID="{DA02FBA8-29AB-4B70-B38A-7014B0D12A8D}" presName="iconBgRect" presStyleLbl="bgShp" presStyleIdx="0" presStyleCnt="2"/>
      <dgm:spPr/>
    </dgm:pt>
    <dgm:pt modelId="{F92172A8-F380-4F55-9751-F054A840047B}" type="pres">
      <dgm:prSet presAssocID="{DA02FBA8-29AB-4B70-B38A-7014B0D12A8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acher"/>
        </a:ext>
      </dgm:extLst>
    </dgm:pt>
    <dgm:pt modelId="{94EA76F3-51F0-4CB3-BF6F-B3792995FB6A}" type="pres">
      <dgm:prSet presAssocID="{DA02FBA8-29AB-4B70-B38A-7014B0D12A8D}" presName="spaceRect" presStyleCnt="0"/>
      <dgm:spPr/>
    </dgm:pt>
    <dgm:pt modelId="{9BB904DB-F1E8-448B-BA29-605C14448399}" type="pres">
      <dgm:prSet presAssocID="{DA02FBA8-29AB-4B70-B38A-7014B0D12A8D}" presName="textRect" presStyleLbl="revTx" presStyleIdx="0" presStyleCnt="2">
        <dgm:presLayoutVars>
          <dgm:chMax val="1"/>
          <dgm:chPref val="1"/>
        </dgm:presLayoutVars>
      </dgm:prSet>
      <dgm:spPr/>
    </dgm:pt>
    <dgm:pt modelId="{DC71EB7C-010B-44F3-A978-628E98CF63CF}" type="pres">
      <dgm:prSet presAssocID="{5816E3DE-D441-43F1-AA7F-AFFA18CD127F}" presName="sibTrans" presStyleCnt="0"/>
      <dgm:spPr/>
    </dgm:pt>
    <dgm:pt modelId="{F010D555-DA3E-4ABE-B126-381F452CD048}" type="pres">
      <dgm:prSet presAssocID="{66FC287E-4E28-4CA0-8E46-285E8552DBE2}" presName="compNode" presStyleCnt="0"/>
      <dgm:spPr/>
    </dgm:pt>
    <dgm:pt modelId="{2CE16D4F-3DD0-4032-89DE-EDB0FCC8C803}" type="pres">
      <dgm:prSet presAssocID="{66FC287E-4E28-4CA0-8E46-285E8552DBE2}" presName="iconBgRect" presStyleLbl="bgShp" presStyleIdx="1" presStyleCnt="2"/>
      <dgm:spPr/>
    </dgm:pt>
    <dgm:pt modelId="{9F20CFAE-2D45-4233-9C73-D3CC4ED05558}" type="pres">
      <dgm:prSet presAssocID="{66FC287E-4E28-4CA0-8E46-285E8552DBE2}"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
        </a:ext>
      </dgm:extLst>
    </dgm:pt>
    <dgm:pt modelId="{6B5ED2B2-E250-4F41-8DB6-68F32E9AEFC4}" type="pres">
      <dgm:prSet presAssocID="{66FC287E-4E28-4CA0-8E46-285E8552DBE2}" presName="spaceRect" presStyleCnt="0"/>
      <dgm:spPr/>
    </dgm:pt>
    <dgm:pt modelId="{8F4AABD1-9172-4D3A-925B-E615FDF33EC4}" type="pres">
      <dgm:prSet presAssocID="{66FC287E-4E28-4CA0-8E46-285E8552DBE2}" presName="textRect" presStyleLbl="revTx" presStyleIdx="1" presStyleCnt="2">
        <dgm:presLayoutVars>
          <dgm:chMax val="1"/>
          <dgm:chPref val="1"/>
        </dgm:presLayoutVars>
      </dgm:prSet>
      <dgm:spPr/>
    </dgm:pt>
  </dgm:ptLst>
  <dgm:cxnLst>
    <dgm:cxn modelId="{FDFDCA03-C578-422F-8A79-ADCC887330DB}" type="presOf" srcId="{66FC287E-4E28-4CA0-8E46-285E8552DBE2}" destId="{8F4AABD1-9172-4D3A-925B-E615FDF33EC4}" srcOrd="0" destOrd="0" presId="urn:microsoft.com/office/officeart/2018/5/layout/IconCircleLabelList"/>
    <dgm:cxn modelId="{28C3A731-6859-407B-9C8E-717493D4C457}" type="presOf" srcId="{8F4211C2-8243-47A7-976E-B538F0B8A6BE}" destId="{C2296850-6639-4D8A-B3F6-C94A81F139D4}" srcOrd="0" destOrd="0" presId="urn:microsoft.com/office/officeart/2018/5/layout/IconCircleLabelList"/>
    <dgm:cxn modelId="{BB361074-F835-4BC1-9890-0774C4715DCA}" type="presOf" srcId="{DA02FBA8-29AB-4B70-B38A-7014B0D12A8D}" destId="{9BB904DB-F1E8-448B-BA29-605C14448399}" srcOrd="0" destOrd="0" presId="urn:microsoft.com/office/officeart/2018/5/layout/IconCircleLabelList"/>
    <dgm:cxn modelId="{81F23E99-C99B-4A24-B915-8082E5E1E463}" srcId="{8F4211C2-8243-47A7-976E-B538F0B8A6BE}" destId="{DA02FBA8-29AB-4B70-B38A-7014B0D12A8D}" srcOrd="0" destOrd="0" parTransId="{4E336273-6434-43C6-B165-7180E1CEF3B1}" sibTransId="{5816E3DE-D441-43F1-AA7F-AFFA18CD127F}"/>
    <dgm:cxn modelId="{6C35CEDF-ED27-45FB-BA6D-C18320C26EE1}" srcId="{8F4211C2-8243-47A7-976E-B538F0B8A6BE}" destId="{66FC287E-4E28-4CA0-8E46-285E8552DBE2}" srcOrd="1" destOrd="0" parTransId="{B9077511-B851-4C7C-9C2F-5229D6BFC49C}" sibTransId="{B8133E11-0CA0-425E-9B02-CE3E1814B148}"/>
    <dgm:cxn modelId="{86BB65D7-4342-4D6F-BFEA-8193E76A153D}" type="presParOf" srcId="{C2296850-6639-4D8A-B3F6-C94A81F139D4}" destId="{385DC55A-ABC1-4E16-9782-4F50E04212EF}" srcOrd="0" destOrd="0" presId="urn:microsoft.com/office/officeart/2018/5/layout/IconCircleLabelList"/>
    <dgm:cxn modelId="{24EA9C47-0A0A-41BC-8FBB-CF07A88AA934}" type="presParOf" srcId="{385DC55A-ABC1-4E16-9782-4F50E04212EF}" destId="{05766066-46DC-45AA-A365-7894DF0CF64B}" srcOrd="0" destOrd="0" presId="urn:microsoft.com/office/officeart/2018/5/layout/IconCircleLabelList"/>
    <dgm:cxn modelId="{C7D4EB26-91B9-4A44-AF68-DACE96A3CA86}" type="presParOf" srcId="{385DC55A-ABC1-4E16-9782-4F50E04212EF}" destId="{F92172A8-F380-4F55-9751-F054A840047B}" srcOrd="1" destOrd="0" presId="urn:microsoft.com/office/officeart/2018/5/layout/IconCircleLabelList"/>
    <dgm:cxn modelId="{02B83FD8-3419-46FC-95FD-38B11F758D10}" type="presParOf" srcId="{385DC55A-ABC1-4E16-9782-4F50E04212EF}" destId="{94EA76F3-51F0-4CB3-BF6F-B3792995FB6A}" srcOrd="2" destOrd="0" presId="urn:microsoft.com/office/officeart/2018/5/layout/IconCircleLabelList"/>
    <dgm:cxn modelId="{478CF47B-BFE5-4353-A7C9-E4483C1D6F67}" type="presParOf" srcId="{385DC55A-ABC1-4E16-9782-4F50E04212EF}" destId="{9BB904DB-F1E8-448B-BA29-605C14448399}" srcOrd="3" destOrd="0" presId="urn:microsoft.com/office/officeart/2018/5/layout/IconCircleLabelList"/>
    <dgm:cxn modelId="{0811BDFB-AA96-4491-AB5A-5C7638D25A63}" type="presParOf" srcId="{C2296850-6639-4D8A-B3F6-C94A81F139D4}" destId="{DC71EB7C-010B-44F3-A978-628E98CF63CF}" srcOrd="1" destOrd="0" presId="urn:microsoft.com/office/officeart/2018/5/layout/IconCircleLabelList"/>
    <dgm:cxn modelId="{4B3FC57E-2502-4E59-A1BA-A6D60DB9780E}" type="presParOf" srcId="{C2296850-6639-4D8A-B3F6-C94A81F139D4}" destId="{F010D555-DA3E-4ABE-B126-381F452CD048}" srcOrd="2" destOrd="0" presId="urn:microsoft.com/office/officeart/2018/5/layout/IconCircleLabelList"/>
    <dgm:cxn modelId="{D3008555-7940-483A-B23C-4BBD7E7F525E}" type="presParOf" srcId="{F010D555-DA3E-4ABE-B126-381F452CD048}" destId="{2CE16D4F-3DD0-4032-89DE-EDB0FCC8C803}" srcOrd="0" destOrd="0" presId="urn:microsoft.com/office/officeart/2018/5/layout/IconCircleLabelList"/>
    <dgm:cxn modelId="{A1AA3EC8-53AD-4D9E-802D-2D488D9375C1}" type="presParOf" srcId="{F010D555-DA3E-4ABE-B126-381F452CD048}" destId="{9F20CFAE-2D45-4233-9C73-D3CC4ED05558}" srcOrd="1" destOrd="0" presId="urn:microsoft.com/office/officeart/2018/5/layout/IconCircleLabelList"/>
    <dgm:cxn modelId="{0F6D46DA-3391-42F5-A37A-E20CD8890FAF}" type="presParOf" srcId="{F010D555-DA3E-4ABE-B126-381F452CD048}" destId="{6B5ED2B2-E250-4F41-8DB6-68F32E9AEFC4}" srcOrd="2" destOrd="0" presId="urn:microsoft.com/office/officeart/2018/5/layout/IconCircleLabelList"/>
    <dgm:cxn modelId="{90B06963-5DCC-4D5F-B04F-A2E6C35CF708}" type="presParOf" srcId="{F010D555-DA3E-4ABE-B126-381F452CD048}" destId="{8F4AABD1-9172-4D3A-925B-E615FDF33EC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BC4279-B299-47DD-A8FB-3D6B2D00F219}"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A514A5D7-7F48-4A34-9EA7-1ACC35ABDE6C}">
      <dgm:prSet/>
      <dgm:spPr/>
      <dgm:t>
        <a:bodyPr/>
        <a:lstStyle/>
        <a:p>
          <a:r>
            <a:rPr lang="en-US"/>
            <a:t>Marketing campaign dataset, Kaggle</a:t>
          </a:r>
        </a:p>
      </dgm:t>
    </dgm:pt>
    <dgm:pt modelId="{70F6B508-BD56-41DC-9A2F-E58835FA21A3}" type="parTrans" cxnId="{79438778-B01F-49F0-A4BC-297963C315A0}">
      <dgm:prSet/>
      <dgm:spPr/>
      <dgm:t>
        <a:bodyPr/>
        <a:lstStyle/>
        <a:p>
          <a:endParaRPr lang="en-US"/>
        </a:p>
      </dgm:t>
    </dgm:pt>
    <dgm:pt modelId="{E5EF18E9-EA39-4476-B58C-5CF065B04370}" type="sibTrans" cxnId="{79438778-B01F-49F0-A4BC-297963C315A0}">
      <dgm:prSet/>
      <dgm:spPr/>
      <dgm:t>
        <a:bodyPr/>
        <a:lstStyle/>
        <a:p>
          <a:endParaRPr lang="en-US"/>
        </a:p>
      </dgm:t>
    </dgm:pt>
    <dgm:pt modelId="{50C2A09F-10EE-40B0-A792-233E055A7CDF}">
      <dgm:prSet/>
      <dgm:spPr/>
      <dgm:t>
        <a:bodyPr/>
        <a:lstStyle/>
        <a:p>
          <a:r>
            <a:rPr lang="en-US"/>
            <a:t>2240 samples</a:t>
          </a:r>
        </a:p>
      </dgm:t>
    </dgm:pt>
    <dgm:pt modelId="{C718DF2F-7BBB-450B-B64B-E538588C9BF6}" type="parTrans" cxnId="{15BCE0C8-6CC1-46BA-A9F1-417415F0BAC5}">
      <dgm:prSet/>
      <dgm:spPr/>
      <dgm:t>
        <a:bodyPr/>
        <a:lstStyle/>
        <a:p>
          <a:endParaRPr lang="en-US"/>
        </a:p>
      </dgm:t>
    </dgm:pt>
    <dgm:pt modelId="{36BB7395-DB1B-4878-A101-92B7A9455E05}" type="sibTrans" cxnId="{15BCE0C8-6CC1-46BA-A9F1-417415F0BAC5}">
      <dgm:prSet/>
      <dgm:spPr/>
      <dgm:t>
        <a:bodyPr/>
        <a:lstStyle/>
        <a:p>
          <a:endParaRPr lang="en-US"/>
        </a:p>
      </dgm:t>
    </dgm:pt>
    <dgm:pt modelId="{00CA24D7-F8E8-4C22-9CCC-A9F54BF4D7B8}">
      <dgm:prSet/>
      <dgm:spPr/>
      <dgm:t>
        <a:bodyPr/>
        <a:lstStyle/>
        <a:p>
          <a:r>
            <a:rPr lang="en-US"/>
            <a:t>28 features (24 numeric, 3 categorical, 1 date)</a:t>
          </a:r>
        </a:p>
      </dgm:t>
    </dgm:pt>
    <dgm:pt modelId="{B4DFD891-A6CB-469B-ADCE-5A51D4251465}" type="parTrans" cxnId="{773D0B14-D365-477B-933E-C5A6E5C92F3A}">
      <dgm:prSet/>
      <dgm:spPr/>
      <dgm:t>
        <a:bodyPr/>
        <a:lstStyle/>
        <a:p>
          <a:endParaRPr lang="en-US"/>
        </a:p>
      </dgm:t>
    </dgm:pt>
    <dgm:pt modelId="{FEB95475-403E-483F-9C7D-03BB3E61B1E3}" type="sibTrans" cxnId="{773D0B14-D365-477B-933E-C5A6E5C92F3A}">
      <dgm:prSet/>
      <dgm:spPr/>
      <dgm:t>
        <a:bodyPr/>
        <a:lstStyle/>
        <a:p>
          <a:endParaRPr lang="en-US"/>
        </a:p>
      </dgm:t>
    </dgm:pt>
    <dgm:pt modelId="{D785AF4F-81E3-4465-A5BC-925B292A3A25}">
      <dgm:prSet/>
      <dgm:spPr/>
      <dgm:t>
        <a:bodyPr/>
        <a:lstStyle/>
        <a:p>
          <a:r>
            <a:rPr lang="en-US"/>
            <a:t>Key features: Income, Education, Spending Score, Recency, Campaigns</a:t>
          </a:r>
        </a:p>
      </dgm:t>
    </dgm:pt>
    <dgm:pt modelId="{A2D7C806-D4D8-4D64-8F5A-92B950E1ED0E}" type="parTrans" cxnId="{4E86E084-B827-4DCF-A4E4-E3767348AB4A}">
      <dgm:prSet/>
      <dgm:spPr/>
      <dgm:t>
        <a:bodyPr/>
        <a:lstStyle/>
        <a:p>
          <a:endParaRPr lang="en-US"/>
        </a:p>
      </dgm:t>
    </dgm:pt>
    <dgm:pt modelId="{C9CC20C5-E493-4E2A-A23F-1E57A25163D1}" type="sibTrans" cxnId="{4E86E084-B827-4DCF-A4E4-E3767348AB4A}">
      <dgm:prSet/>
      <dgm:spPr/>
      <dgm:t>
        <a:bodyPr/>
        <a:lstStyle/>
        <a:p>
          <a:endParaRPr lang="en-US"/>
        </a:p>
      </dgm:t>
    </dgm:pt>
    <dgm:pt modelId="{7804DD73-DB19-C446-82C7-4DCEB3DE26BD}" type="pres">
      <dgm:prSet presAssocID="{E9BC4279-B299-47DD-A8FB-3D6B2D00F219}" presName="matrix" presStyleCnt="0">
        <dgm:presLayoutVars>
          <dgm:chMax val="1"/>
          <dgm:dir/>
          <dgm:resizeHandles val="exact"/>
        </dgm:presLayoutVars>
      </dgm:prSet>
      <dgm:spPr/>
    </dgm:pt>
    <dgm:pt modelId="{0E7E41D6-7244-284F-AFC6-89C89D2CB114}" type="pres">
      <dgm:prSet presAssocID="{E9BC4279-B299-47DD-A8FB-3D6B2D00F219}" presName="diamond" presStyleLbl="bgShp" presStyleIdx="0" presStyleCnt="1"/>
      <dgm:spPr/>
    </dgm:pt>
    <dgm:pt modelId="{0CC77C0C-B8D1-F748-B768-94629EEDB07C}" type="pres">
      <dgm:prSet presAssocID="{E9BC4279-B299-47DD-A8FB-3D6B2D00F219}" presName="quad1" presStyleLbl="node1" presStyleIdx="0" presStyleCnt="4">
        <dgm:presLayoutVars>
          <dgm:chMax val="0"/>
          <dgm:chPref val="0"/>
          <dgm:bulletEnabled val="1"/>
        </dgm:presLayoutVars>
      </dgm:prSet>
      <dgm:spPr/>
    </dgm:pt>
    <dgm:pt modelId="{115088FB-7BD9-9744-B7B9-84B158702FE9}" type="pres">
      <dgm:prSet presAssocID="{E9BC4279-B299-47DD-A8FB-3D6B2D00F219}" presName="quad2" presStyleLbl="node1" presStyleIdx="1" presStyleCnt="4">
        <dgm:presLayoutVars>
          <dgm:chMax val="0"/>
          <dgm:chPref val="0"/>
          <dgm:bulletEnabled val="1"/>
        </dgm:presLayoutVars>
      </dgm:prSet>
      <dgm:spPr/>
    </dgm:pt>
    <dgm:pt modelId="{D96DDABA-4715-4C4D-BABF-B9FEB3A499D8}" type="pres">
      <dgm:prSet presAssocID="{E9BC4279-B299-47DD-A8FB-3D6B2D00F219}" presName="quad3" presStyleLbl="node1" presStyleIdx="2" presStyleCnt="4">
        <dgm:presLayoutVars>
          <dgm:chMax val="0"/>
          <dgm:chPref val="0"/>
          <dgm:bulletEnabled val="1"/>
        </dgm:presLayoutVars>
      </dgm:prSet>
      <dgm:spPr/>
    </dgm:pt>
    <dgm:pt modelId="{EE46C45C-46F3-B343-AF39-F7CECB74AC7B}" type="pres">
      <dgm:prSet presAssocID="{E9BC4279-B299-47DD-A8FB-3D6B2D00F219}" presName="quad4" presStyleLbl="node1" presStyleIdx="3" presStyleCnt="4">
        <dgm:presLayoutVars>
          <dgm:chMax val="0"/>
          <dgm:chPref val="0"/>
          <dgm:bulletEnabled val="1"/>
        </dgm:presLayoutVars>
      </dgm:prSet>
      <dgm:spPr/>
    </dgm:pt>
  </dgm:ptLst>
  <dgm:cxnLst>
    <dgm:cxn modelId="{E8F13813-644F-8746-B74D-4F2E38DA3920}" type="presOf" srcId="{00CA24D7-F8E8-4C22-9CCC-A9F54BF4D7B8}" destId="{D96DDABA-4715-4C4D-BABF-B9FEB3A499D8}" srcOrd="0" destOrd="0" presId="urn:microsoft.com/office/officeart/2005/8/layout/matrix3"/>
    <dgm:cxn modelId="{773D0B14-D365-477B-933E-C5A6E5C92F3A}" srcId="{E9BC4279-B299-47DD-A8FB-3D6B2D00F219}" destId="{00CA24D7-F8E8-4C22-9CCC-A9F54BF4D7B8}" srcOrd="2" destOrd="0" parTransId="{B4DFD891-A6CB-469B-ADCE-5A51D4251465}" sibTransId="{FEB95475-403E-483F-9C7D-03BB3E61B1E3}"/>
    <dgm:cxn modelId="{2D2E5A41-E673-BB44-9CA0-ADAC750083D8}" type="presOf" srcId="{D785AF4F-81E3-4465-A5BC-925B292A3A25}" destId="{EE46C45C-46F3-B343-AF39-F7CECB74AC7B}" srcOrd="0" destOrd="0" presId="urn:microsoft.com/office/officeart/2005/8/layout/matrix3"/>
    <dgm:cxn modelId="{8761B643-5AB7-064E-8DEF-240B0C4A6198}" type="presOf" srcId="{E9BC4279-B299-47DD-A8FB-3D6B2D00F219}" destId="{7804DD73-DB19-C446-82C7-4DCEB3DE26BD}" srcOrd="0" destOrd="0" presId="urn:microsoft.com/office/officeart/2005/8/layout/matrix3"/>
    <dgm:cxn modelId="{79438778-B01F-49F0-A4BC-297963C315A0}" srcId="{E9BC4279-B299-47DD-A8FB-3D6B2D00F219}" destId="{A514A5D7-7F48-4A34-9EA7-1ACC35ABDE6C}" srcOrd="0" destOrd="0" parTransId="{70F6B508-BD56-41DC-9A2F-E58835FA21A3}" sibTransId="{E5EF18E9-EA39-4476-B58C-5CF065B04370}"/>
    <dgm:cxn modelId="{4E86E084-B827-4DCF-A4E4-E3767348AB4A}" srcId="{E9BC4279-B299-47DD-A8FB-3D6B2D00F219}" destId="{D785AF4F-81E3-4465-A5BC-925B292A3A25}" srcOrd="3" destOrd="0" parTransId="{A2D7C806-D4D8-4D64-8F5A-92B950E1ED0E}" sibTransId="{C9CC20C5-E493-4E2A-A23F-1E57A25163D1}"/>
    <dgm:cxn modelId="{9C66C493-FE38-5A4D-8759-3C8E2C4B2874}" type="presOf" srcId="{50C2A09F-10EE-40B0-A792-233E055A7CDF}" destId="{115088FB-7BD9-9744-B7B9-84B158702FE9}" srcOrd="0" destOrd="0" presId="urn:microsoft.com/office/officeart/2005/8/layout/matrix3"/>
    <dgm:cxn modelId="{1954BCB7-8629-6247-9190-F6542D245D79}" type="presOf" srcId="{A514A5D7-7F48-4A34-9EA7-1ACC35ABDE6C}" destId="{0CC77C0C-B8D1-F748-B768-94629EEDB07C}" srcOrd="0" destOrd="0" presId="urn:microsoft.com/office/officeart/2005/8/layout/matrix3"/>
    <dgm:cxn modelId="{15BCE0C8-6CC1-46BA-A9F1-417415F0BAC5}" srcId="{E9BC4279-B299-47DD-A8FB-3D6B2D00F219}" destId="{50C2A09F-10EE-40B0-A792-233E055A7CDF}" srcOrd="1" destOrd="0" parTransId="{C718DF2F-7BBB-450B-B64B-E538588C9BF6}" sibTransId="{36BB7395-DB1B-4878-A101-92B7A9455E05}"/>
    <dgm:cxn modelId="{47883539-D0BD-B640-A70A-45A317DB1226}" type="presParOf" srcId="{7804DD73-DB19-C446-82C7-4DCEB3DE26BD}" destId="{0E7E41D6-7244-284F-AFC6-89C89D2CB114}" srcOrd="0" destOrd="0" presId="urn:microsoft.com/office/officeart/2005/8/layout/matrix3"/>
    <dgm:cxn modelId="{AEC97211-9519-0743-A7E4-5567DE4EBDDF}" type="presParOf" srcId="{7804DD73-DB19-C446-82C7-4DCEB3DE26BD}" destId="{0CC77C0C-B8D1-F748-B768-94629EEDB07C}" srcOrd="1" destOrd="0" presId="urn:microsoft.com/office/officeart/2005/8/layout/matrix3"/>
    <dgm:cxn modelId="{2416340B-8187-BA49-A564-EDF718E46148}" type="presParOf" srcId="{7804DD73-DB19-C446-82C7-4DCEB3DE26BD}" destId="{115088FB-7BD9-9744-B7B9-84B158702FE9}" srcOrd="2" destOrd="0" presId="urn:microsoft.com/office/officeart/2005/8/layout/matrix3"/>
    <dgm:cxn modelId="{940CAB25-EC7A-3F47-B328-9C8707FAAF93}" type="presParOf" srcId="{7804DD73-DB19-C446-82C7-4DCEB3DE26BD}" destId="{D96DDABA-4715-4C4D-BABF-B9FEB3A499D8}" srcOrd="3" destOrd="0" presId="urn:microsoft.com/office/officeart/2005/8/layout/matrix3"/>
    <dgm:cxn modelId="{5C9790A2-5A85-754C-B4E6-11D35B978402}" type="presParOf" srcId="{7804DD73-DB19-C446-82C7-4DCEB3DE26BD}" destId="{EE46C45C-46F3-B343-AF39-F7CECB74AC7B}"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4968FB-8994-48C6-AD2C-A6F541605553}"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F2E71838-FE0D-43C8-BD9C-DA7534EF37B6}">
      <dgm:prSet/>
      <dgm:spPr/>
      <dgm:t>
        <a:bodyPr/>
        <a:lstStyle/>
        <a:p>
          <a:r>
            <a:rPr lang="en-US"/>
            <a:t>Use StandardScaler for scaling numeric features</a:t>
          </a:r>
        </a:p>
      </dgm:t>
    </dgm:pt>
    <dgm:pt modelId="{26AECD3D-9EF1-49E5-948C-8672E2A63469}" type="parTrans" cxnId="{4A30848F-47CD-4C55-B6CD-3F60697B6E3B}">
      <dgm:prSet/>
      <dgm:spPr/>
      <dgm:t>
        <a:bodyPr/>
        <a:lstStyle/>
        <a:p>
          <a:endParaRPr lang="en-US"/>
        </a:p>
      </dgm:t>
    </dgm:pt>
    <dgm:pt modelId="{98E84FBA-8E50-4CEF-9C5A-AFD655AAD670}" type="sibTrans" cxnId="{4A30848F-47CD-4C55-B6CD-3F60697B6E3B}">
      <dgm:prSet/>
      <dgm:spPr/>
      <dgm:t>
        <a:bodyPr/>
        <a:lstStyle/>
        <a:p>
          <a:endParaRPr lang="en-US"/>
        </a:p>
      </dgm:t>
    </dgm:pt>
    <dgm:pt modelId="{2DAFB160-60D5-4336-BEE1-36AC26AD9E82}">
      <dgm:prSet/>
      <dgm:spPr/>
      <dgm:t>
        <a:bodyPr/>
        <a:lstStyle/>
        <a:p>
          <a:r>
            <a:rPr lang="en-US"/>
            <a:t>Apply OneHotEncoder to transform all categorical features. </a:t>
          </a:r>
        </a:p>
      </dgm:t>
    </dgm:pt>
    <dgm:pt modelId="{5C5A212F-C55D-4AA8-9B0C-BA58E3296022}" type="parTrans" cxnId="{17AE7FBA-2FA9-4884-BA28-F449C780A479}">
      <dgm:prSet/>
      <dgm:spPr/>
      <dgm:t>
        <a:bodyPr/>
        <a:lstStyle/>
        <a:p>
          <a:endParaRPr lang="en-US"/>
        </a:p>
      </dgm:t>
    </dgm:pt>
    <dgm:pt modelId="{49E426C2-084C-4159-B5ED-C85993F953BE}" type="sibTrans" cxnId="{17AE7FBA-2FA9-4884-BA28-F449C780A479}">
      <dgm:prSet/>
      <dgm:spPr/>
      <dgm:t>
        <a:bodyPr/>
        <a:lstStyle/>
        <a:p>
          <a:endParaRPr lang="en-US"/>
        </a:p>
      </dgm:t>
    </dgm:pt>
    <dgm:pt modelId="{948E87C0-90A7-4FB4-A12C-79FCDE8D6E56}">
      <dgm:prSet/>
      <dgm:spPr/>
      <dgm:t>
        <a:bodyPr/>
        <a:lstStyle/>
        <a:p>
          <a:r>
            <a:rPr lang="en-US"/>
            <a:t>Since PCA and clustering algorithms require dense arrays -&gt; converts the resulting sparse matrix to a dense NumPy array. </a:t>
          </a:r>
        </a:p>
      </dgm:t>
    </dgm:pt>
    <dgm:pt modelId="{08E2B1EC-7B0D-4D16-BBB3-6715F82E3481}" type="parTrans" cxnId="{E819A1AC-1221-424E-9222-C58D4435F60A}">
      <dgm:prSet/>
      <dgm:spPr/>
      <dgm:t>
        <a:bodyPr/>
        <a:lstStyle/>
        <a:p>
          <a:endParaRPr lang="en-US"/>
        </a:p>
      </dgm:t>
    </dgm:pt>
    <dgm:pt modelId="{35D9309F-87E5-4E12-92B1-809504B0861C}" type="sibTrans" cxnId="{E819A1AC-1221-424E-9222-C58D4435F60A}">
      <dgm:prSet/>
      <dgm:spPr/>
      <dgm:t>
        <a:bodyPr/>
        <a:lstStyle/>
        <a:p>
          <a:endParaRPr lang="en-US"/>
        </a:p>
      </dgm:t>
    </dgm:pt>
    <dgm:pt modelId="{D29E0ADD-B102-44E5-B3AF-D7E2A6FD2EF6}">
      <dgm:prSet/>
      <dgm:spPr/>
      <dgm:t>
        <a:bodyPr/>
        <a:lstStyle/>
        <a:p>
          <a:r>
            <a:rPr lang="en-US"/>
            <a:t>Use PCA for reducing dimension.</a:t>
          </a:r>
        </a:p>
      </dgm:t>
    </dgm:pt>
    <dgm:pt modelId="{2796CA83-168A-4C69-83E3-F49D4539AB02}" type="parTrans" cxnId="{310B39F6-CD84-4CC9-A2BB-2B9F40C5A78A}">
      <dgm:prSet/>
      <dgm:spPr/>
      <dgm:t>
        <a:bodyPr/>
        <a:lstStyle/>
        <a:p>
          <a:endParaRPr lang="en-US"/>
        </a:p>
      </dgm:t>
    </dgm:pt>
    <dgm:pt modelId="{3E22E033-91FD-4774-8ABA-07385984A3AC}" type="sibTrans" cxnId="{310B39F6-CD84-4CC9-A2BB-2B9F40C5A78A}">
      <dgm:prSet/>
      <dgm:spPr/>
      <dgm:t>
        <a:bodyPr/>
        <a:lstStyle/>
        <a:p>
          <a:endParaRPr lang="en-US"/>
        </a:p>
      </dgm:t>
    </dgm:pt>
    <dgm:pt modelId="{E6AD3CF7-EE0F-C148-AB60-AD0F868B9419}" type="pres">
      <dgm:prSet presAssocID="{DB4968FB-8994-48C6-AD2C-A6F541605553}" presName="linear" presStyleCnt="0">
        <dgm:presLayoutVars>
          <dgm:animLvl val="lvl"/>
          <dgm:resizeHandles val="exact"/>
        </dgm:presLayoutVars>
      </dgm:prSet>
      <dgm:spPr/>
    </dgm:pt>
    <dgm:pt modelId="{126BD9F4-77A3-BE4F-A146-49F233A6CA38}" type="pres">
      <dgm:prSet presAssocID="{F2E71838-FE0D-43C8-BD9C-DA7534EF37B6}" presName="parentText" presStyleLbl="node1" presStyleIdx="0" presStyleCnt="4">
        <dgm:presLayoutVars>
          <dgm:chMax val="0"/>
          <dgm:bulletEnabled val="1"/>
        </dgm:presLayoutVars>
      </dgm:prSet>
      <dgm:spPr/>
    </dgm:pt>
    <dgm:pt modelId="{265DFE46-7951-494E-8957-2FA8EBC306AE}" type="pres">
      <dgm:prSet presAssocID="{98E84FBA-8E50-4CEF-9C5A-AFD655AAD670}" presName="spacer" presStyleCnt="0"/>
      <dgm:spPr/>
    </dgm:pt>
    <dgm:pt modelId="{FB80F6C8-A941-E14D-8B5C-D34E4914D014}" type="pres">
      <dgm:prSet presAssocID="{2DAFB160-60D5-4336-BEE1-36AC26AD9E82}" presName="parentText" presStyleLbl="node1" presStyleIdx="1" presStyleCnt="4">
        <dgm:presLayoutVars>
          <dgm:chMax val="0"/>
          <dgm:bulletEnabled val="1"/>
        </dgm:presLayoutVars>
      </dgm:prSet>
      <dgm:spPr/>
    </dgm:pt>
    <dgm:pt modelId="{6B18BF72-380B-0E4D-8656-D0F023AA2363}" type="pres">
      <dgm:prSet presAssocID="{49E426C2-084C-4159-B5ED-C85993F953BE}" presName="spacer" presStyleCnt="0"/>
      <dgm:spPr/>
    </dgm:pt>
    <dgm:pt modelId="{25BF0303-2D18-9840-BF2C-F9D4340916D3}" type="pres">
      <dgm:prSet presAssocID="{948E87C0-90A7-4FB4-A12C-79FCDE8D6E56}" presName="parentText" presStyleLbl="node1" presStyleIdx="2" presStyleCnt="4">
        <dgm:presLayoutVars>
          <dgm:chMax val="0"/>
          <dgm:bulletEnabled val="1"/>
        </dgm:presLayoutVars>
      </dgm:prSet>
      <dgm:spPr/>
    </dgm:pt>
    <dgm:pt modelId="{72AA7A9F-C696-E344-8E03-EFA39FF881E2}" type="pres">
      <dgm:prSet presAssocID="{35D9309F-87E5-4E12-92B1-809504B0861C}" presName="spacer" presStyleCnt="0"/>
      <dgm:spPr/>
    </dgm:pt>
    <dgm:pt modelId="{7E2094DA-DDF4-7F4B-9BDA-BFD626C744B9}" type="pres">
      <dgm:prSet presAssocID="{D29E0ADD-B102-44E5-B3AF-D7E2A6FD2EF6}" presName="parentText" presStyleLbl="node1" presStyleIdx="3" presStyleCnt="4">
        <dgm:presLayoutVars>
          <dgm:chMax val="0"/>
          <dgm:bulletEnabled val="1"/>
        </dgm:presLayoutVars>
      </dgm:prSet>
      <dgm:spPr/>
    </dgm:pt>
  </dgm:ptLst>
  <dgm:cxnLst>
    <dgm:cxn modelId="{F4DFE909-41DB-6849-8D00-E6F9281AC208}" type="presOf" srcId="{D29E0ADD-B102-44E5-B3AF-D7E2A6FD2EF6}" destId="{7E2094DA-DDF4-7F4B-9BDA-BFD626C744B9}" srcOrd="0" destOrd="0" presId="urn:microsoft.com/office/officeart/2005/8/layout/vList2"/>
    <dgm:cxn modelId="{8F1EE711-2369-8446-B99C-C6EEF5F94ACD}" type="presOf" srcId="{F2E71838-FE0D-43C8-BD9C-DA7534EF37B6}" destId="{126BD9F4-77A3-BE4F-A146-49F233A6CA38}" srcOrd="0" destOrd="0" presId="urn:microsoft.com/office/officeart/2005/8/layout/vList2"/>
    <dgm:cxn modelId="{25B83C23-8CD5-A44D-987B-CD9FABB64CA1}" type="presOf" srcId="{948E87C0-90A7-4FB4-A12C-79FCDE8D6E56}" destId="{25BF0303-2D18-9840-BF2C-F9D4340916D3}" srcOrd="0" destOrd="0" presId="urn:microsoft.com/office/officeart/2005/8/layout/vList2"/>
    <dgm:cxn modelId="{4A30848F-47CD-4C55-B6CD-3F60697B6E3B}" srcId="{DB4968FB-8994-48C6-AD2C-A6F541605553}" destId="{F2E71838-FE0D-43C8-BD9C-DA7534EF37B6}" srcOrd="0" destOrd="0" parTransId="{26AECD3D-9EF1-49E5-948C-8672E2A63469}" sibTransId="{98E84FBA-8E50-4CEF-9C5A-AFD655AAD670}"/>
    <dgm:cxn modelId="{1D26229C-F93D-D647-B506-82FC219B9365}" type="presOf" srcId="{DB4968FB-8994-48C6-AD2C-A6F541605553}" destId="{E6AD3CF7-EE0F-C148-AB60-AD0F868B9419}" srcOrd="0" destOrd="0" presId="urn:microsoft.com/office/officeart/2005/8/layout/vList2"/>
    <dgm:cxn modelId="{E819A1AC-1221-424E-9222-C58D4435F60A}" srcId="{DB4968FB-8994-48C6-AD2C-A6F541605553}" destId="{948E87C0-90A7-4FB4-A12C-79FCDE8D6E56}" srcOrd="2" destOrd="0" parTransId="{08E2B1EC-7B0D-4D16-BBB3-6715F82E3481}" sibTransId="{35D9309F-87E5-4E12-92B1-809504B0861C}"/>
    <dgm:cxn modelId="{17AE7FBA-2FA9-4884-BA28-F449C780A479}" srcId="{DB4968FB-8994-48C6-AD2C-A6F541605553}" destId="{2DAFB160-60D5-4336-BEE1-36AC26AD9E82}" srcOrd="1" destOrd="0" parTransId="{5C5A212F-C55D-4AA8-9B0C-BA58E3296022}" sibTransId="{49E426C2-084C-4159-B5ED-C85993F953BE}"/>
    <dgm:cxn modelId="{B0579ED4-EBCE-2049-8D8E-6C9E32E4EDC2}" type="presOf" srcId="{2DAFB160-60D5-4336-BEE1-36AC26AD9E82}" destId="{FB80F6C8-A941-E14D-8B5C-D34E4914D014}" srcOrd="0" destOrd="0" presId="urn:microsoft.com/office/officeart/2005/8/layout/vList2"/>
    <dgm:cxn modelId="{310B39F6-CD84-4CC9-A2BB-2B9F40C5A78A}" srcId="{DB4968FB-8994-48C6-AD2C-A6F541605553}" destId="{D29E0ADD-B102-44E5-B3AF-D7E2A6FD2EF6}" srcOrd="3" destOrd="0" parTransId="{2796CA83-168A-4C69-83E3-F49D4539AB02}" sibTransId="{3E22E033-91FD-4774-8ABA-07385984A3AC}"/>
    <dgm:cxn modelId="{5D9AB6EF-2143-C648-87E6-BC4EF0866E26}" type="presParOf" srcId="{E6AD3CF7-EE0F-C148-AB60-AD0F868B9419}" destId="{126BD9F4-77A3-BE4F-A146-49F233A6CA38}" srcOrd="0" destOrd="0" presId="urn:microsoft.com/office/officeart/2005/8/layout/vList2"/>
    <dgm:cxn modelId="{19B5CF42-0790-204D-8663-B7F262AC7F85}" type="presParOf" srcId="{E6AD3CF7-EE0F-C148-AB60-AD0F868B9419}" destId="{265DFE46-7951-494E-8957-2FA8EBC306AE}" srcOrd="1" destOrd="0" presId="urn:microsoft.com/office/officeart/2005/8/layout/vList2"/>
    <dgm:cxn modelId="{213BA0B8-97C5-3A4E-976C-2F79FE34A3F2}" type="presParOf" srcId="{E6AD3CF7-EE0F-C148-AB60-AD0F868B9419}" destId="{FB80F6C8-A941-E14D-8B5C-D34E4914D014}" srcOrd="2" destOrd="0" presId="urn:microsoft.com/office/officeart/2005/8/layout/vList2"/>
    <dgm:cxn modelId="{B949C8FA-7D66-C14D-B5D5-4EA5F896F638}" type="presParOf" srcId="{E6AD3CF7-EE0F-C148-AB60-AD0F868B9419}" destId="{6B18BF72-380B-0E4D-8656-D0F023AA2363}" srcOrd="3" destOrd="0" presId="urn:microsoft.com/office/officeart/2005/8/layout/vList2"/>
    <dgm:cxn modelId="{538A33D6-801A-F049-B868-CF3A7E45DE07}" type="presParOf" srcId="{E6AD3CF7-EE0F-C148-AB60-AD0F868B9419}" destId="{25BF0303-2D18-9840-BF2C-F9D4340916D3}" srcOrd="4" destOrd="0" presId="urn:microsoft.com/office/officeart/2005/8/layout/vList2"/>
    <dgm:cxn modelId="{8BCEF1B6-6E62-A343-BC45-973CCC09A022}" type="presParOf" srcId="{E6AD3CF7-EE0F-C148-AB60-AD0F868B9419}" destId="{72AA7A9F-C696-E344-8E03-EFA39FF881E2}" srcOrd="5" destOrd="0" presId="urn:microsoft.com/office/officeart/2005/8/layout/vList2"/>
    <dgm:cxn modelId="{C0A02757-A13C-1848-B499-DFF39E55779A}" type="presParOf" srcId="{E6AD3CF7-EE0F-C148-AB60-AD0F868B9419}" destId="{7E2094DA-DDF4-7F4B-9BDA-BFD626C744B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19016F-3C0C-4136-BC89-A1378D520DFE}"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234816FF-6B61-440E-BD99-6B2B2CE89DD8}">
      <dgm:prSet/>
      <dgm:spPr/>
      <dgm:t>
        <a:bodyPr/>
        <a:lstStyle/>
        <a:p>
          <a:r>
            <a:rPr lang="en-US"/>
            <a:t>- Class imbalance in 'Response’ (most customers do not respond) -&gt; both clusters to be dominated by label 0, removing the possibility of forming a “responder” cluster. </a:t>
          </a:r>
        </a:p>
      </dgm:t>
    </dgm:pt>
    <dgm:pt modelId="{421FAD6B-0090-4D65-9808-808FE9BC2FF9}" type="parTrans" cxnId="{12D700BF-6915-49B5-BCFC-5D64DC685EFD}">
      <dgm:prSet/>
      <dgm:spPr/>
      <dgm:t>
        <a:bodyPr/>
        <a:lstStyle/>
        <a:p>
          <a:endParaRPr lang="en-US"/>
        </a:p>
      </dgm:t>
    </dgm:pt>
    <dgm:pt modelId="{517A88BA-3E23-4A50-A7AA-102538EC8970}" type="sibTrans" cxnId="{12D700BF-6915-49B5-BCFC-5D64DC685EFD}">
      <dgm:prSet/>
      <dgm:spPr/>
      <dgm:t>
        <a:bodyPr/>
        <a:lstStyle/>
        <a:p>
          <a:endParaRPr lang="en-US"/>
        </a:p>
      </dgm:t>
    </dgm:pt>
    <dgm:pt modelId="{18B9B503-1928-460B-94CD-B4EAF3A3B193}">
      <dgm:prSet/>
      <dgm:spPr/>
      <dgm:t>
        <a:bodyPr/>
        <a:lstStyle/>
        <a:p>
          <a:r>
            <a:rPr lang="en-US"/>
            <a:t>- Clusters reflect socio-economic and behavioral segmentation, not campaign outcome-&gt; clustering is excellent for marketing insights, but not for direct prediction of campaign success. </a:t>
          </a:r>
        </a:p>
      </dgm:t>
    </dgm:pt>
    <dgm:pt modelId="{A82A5C90-4354-489E-A6B7-265F0EF68354}" type="parTrans" cxnId="{C969F213-B5E8-4F3D-9208-A149999B6A81}">
      <dgm:prSet/>
      <dgm:spPr/>
      <dgm:t>
        <a:bodyPr/>
        <a:lstStyle/>
        <a:p>
          <a:endParaRPr lang="en-US"/>
        </a:p>
      </dgm:t>
    </dgm:pt>
    <dgm:pt modelId="{D5C7DCEA-CE7F-4242-B2D9-14F528E8B770}" type="sibTrans" cxnId="{C969F213-B5E8-4F3D-9208-A149999B6A81}">
      <dgm:prSet/>
      <dgm:spPr/>
      <dgm:t>
        <a:bodyPr/>
        <a:lstStyle/>
        <a:p>
          <a:endParaRPr lang="en-US"/>
        </a:p>
      </dgm:t>
    </dgm:pt>
    <dgm:pt modelId="{2AECD228-557C-4878-97EE-155C29EC11DB}">
      <dgm:prSet/>
      <dgm:spPr/>
      <dgm:t>
        <a:bodyPr/>
        <a:lstStyle/>
        <a:p>
          <a:r>
            <a:rPr lang="en-US"/>
            <a:t>- PCA keeps components with the highest variance =&gt; some fine-grained predictive information may be lost in dimensionality reduction.</a:t>
          </a:r>
        </a:p>
      </dgm:t>
    </dgm:pt>
    <dgm:pt modelId="{3214AD1D-5EDB-4939-BE24-EDE7B6C71296}" type="parTrans" cxnId="{B1A173BC-885B-4410-AE70-E7CB87EE7F17}">
      <dgm:prSet/>
      <dgm:spPr/>
      <dgm:t>
        <a:bodyPr/>
        <a:lstStyle/>
        <a:p>
          <a:endParaRPr lang="en-US"/>
        </a:p>
      </dgm:t>
    </dgm:pt>
    <dgm:pt modelId="{471EF83A-90CC-45C6-A944-345FB228EE45}" type="sibTrans" cxnId="{B1A173BC-885B-4410-AE70-E7CB87EE7F17}">
      <dgm:prSet/>
      <dgm:spPr/>
      <dgm:t>
        <a:bodyPr/>
        <a:lstStyle/>
        <a:p>
          <a:endParaRPr lang="en-US"/>
        </a:p>
      </dgm:t>
    </dgm:pt>
    <dgm:pt modelId="{A4A0E7CA-5B89-7E43-8A34-2CBEB42398F9}" type="pres">
      <dgm:prSet presAssocID="{B019016F-3C0C-4136-BC89-A1378D520DFE}" presName="linear" presStyleCnt="0">
        <dgm:presLayoutVars>
          <dgm:animLvl val="lvl"/>
          <dgm:resizeHandles val="exact"/>
        </dgm:presLayoutVars>
      </dgm:prSet>
      <dgm:spPr/>
    </dgm:pt>
    <dgm:pt modelId="{61486FFE-C390-3946-8017-7CD26F1DA1CB}" type="pres">
      <dgm:prSet presAssocID="{234816FF-6B61-440E-BD99-6B2B2CE89DD8}" presName="parentText" presStyleLbl="node1" presStyleIdx="0" presStyleCnt="3">
        <dgm:presLayoutVars>
          <dgm:chMax val="0"/>
          <dgm:bulletEnabled val="1"/>
        </dgm:presLayoutVars>
      </dgm:prSet>
      <dgm:spPr/>
    </dgm:pt>
    <dgm:pt modelId="{012B6227-0CDB-0D40-B119-CC854DD36561}" type="pres">
      <dgm:prSet presAssocID="{517A88BA-3E23-4A50-A7AA-102538EC8970}" presName="spacer" presStyleCnt="0"/>
      <dgm:spPr/>
    </dgm:pt>
    <dgm:pt modelId="{C372FFB8-9985-B740-939F-FEA61D134C16}" type="pres">
      <dgm:prSet presAssocID="{18B9B503-1928-460B-94CD-B4EAF3A3B193}" presName="parentText" presStyleLbl="node1" presStyleIdx="1" presStyleCnt="3">
        <dgm:presLayoutVars>
          <dgm:chMax val="0"/>
          <dgm:bulletEnabled val="1"/>
        </dgm:presLayoutVars>
      </dgm:prSet>
      <dgm:spPr/>
    </dgm:pt>
    <dgm:pt modelId="{119EE7F1-7FAE-B341-A338-59B859EA865C}" type="pres">
      <dgm:prSet presAssocID="{D5C7DCEA-CE7F-4242-B2D9-14F528E8B770}" presName="spacer" presStyleCnt="0"/>
      <dgm:spPr/>
    </dgm:pt>
    <dgm:pt modelId="{EA857E1D-7DD5-DB4A-B498-A2510F647007}" type="pres">
      <dgm:prSet presAssocID="{2AECD228-557C-4878-97EE-155C29EC11DB}" presName="parentText" presStyleLbl="node1" presStyleIdx="2" presStyleCnt="3">
        <dgm:presLayoutVars>
          <dgm:chMax val="0"/>
          <dgm:bulletEnabled val="1"/>
        </dgm:presLayoutVars>
      </dgm:prSet>
      <dgm:spPr/>
    </dgm:pt>
  </dgm:ptLst>
  <dgm:cxnLst>
    <dgm:cxn modelId="{C969F213-B5E8-4F3D-9208-A149999B6A81}" srcId="{B019016F-3C0C-4136-BC89-A1378D520DFE}" destId="{18B9B503-1928-460B-94CD-B4EAF3A3B193}" srcOrd="1" destOrd="0" parTransId="{A82A5C90-4354-489E-A6B7-265F0EF68354}" sibTransId="{D5C7DCEA-CE7F-4242-B2D9-14F528E8B770}"/>
    <dgm:cxn modelId="{3EA45B3C-5CCA-FD4E-BAA9-E5F73600D640}" type="presOf" srcId="{18B9B503-1928-460B-94CD-B4EAF3A3B193}" destId="{C372FFB8-9985-B740-939F-FEA61D134C16}" srcOrd="0" destOrd="0" presId="urn:microsoft.com/office/officeart/2005/8/layout/vList2"/>
    <dgm:cxn modelId="{F86E0147-54A4-E647-8D98-117C14B9151C}" type="presOf" srcId="{B019016F-3C0C-4136-BC89-A1378D520DFE}" destId="{A4A0E7CA-5B89-7E43-8A34-2CBEB42398F9}" srcOrd="0" destOrd="0" presId="urn:microsoft.com/office/officeart/2005/8/layout/vList2"/>
    <dgm:cxn modelId="{3041489A-D7AC-8F4C-AC3C-A14CD44E23F9}" type="presOf" srcId="{234816FF-6B61-440E-BD99-6B2B2CE89DD8}" destId="{61486FFE-C390-3946-8017-7CD26F1DA1CB}" srcOrd="0" destOrd="0" presId="urn:microsoft.com/office/officeart/2005/8/layout/vList2"/>
    <dgm:cxn modelId="{676A17A7-2F87-174B-82D2-51CD59088736}" type="presOf" srcId="{2AECD228-557C-4878-97EE-155C29EC11DB}" destId="{EA857E1D-7DD5-DB4A-B498-A2510F647007}" srcOrd="0" destOrd="0" presId="urn:microsoft.com/office/officeart/2005/8/layout/vList2"/>
    <dgm:cxn modelId="{B1A173BC-885B-4410-AE70-E7CB87EE7F17}" srcId="{B019016F-3C0C-4136-BC89-A1378D520DFE}" destId="{2AECD228-557C-4878-97EE-155C29EC11DB}" srcOrd="2" destOrd="0" parTransId="{3214AD1D-5EDB-4939-BE24-EDE7B6C71296}" sibTransId="{471EF83A-90CC-45C6-A944-345FB228EE45}"/>
    <dgm:cxn modelId="{12D700BF-6915-49B5-BCFC-5D64DC685EFD}" srcId="{B019016F-3C0C-4136-BC89-A1378D520DFE}" destId="{234816FF-6B61-440E-BD99-6B2B2CE89DD8}" srcOrd="0" destOrd="0" parTransId="{421FAD6B-0090-4D65-9808-808FE9BC2FF9}" sibTransId="{517A88BA-3E23-4A50-A7AA-102538EC8970}"/>
    <dgm:cxn modelId="{77A7C65C-3B32-2042-890F-04CB87CEE2F8}" type="presParOf" srcId="{A4A0E7CA-5B89-7E43-8A34-2CBEB42398F9}" destId="{61486FFE-C390-3946-8017-7CD26F1DA1CB}" srcOrd="0" destOrd="0" presId="urn:microsoft.com/office/officeart/2005/8/layout/vList2"/>
    <dgm:cxn modelId="{06A0615F-1BAF-A543-8F09-C6A478C94AF3}" type="presParOf" srcId="{A4A0E7CA-5B89-7E43-8A34-2CBEB42398F9}" destId="{012B6227-0CDB-0D40-B119-CC854DD36561}" srcOrd="1" destOrd="0" presId="urn:microsoft.com/office/officeart/2005/8/layout/vList2"/>
    <dgm:cxn modelId="{A24C8195-05A3-CA40-B16E-1B63412AF489}" type="presParOf" srcId="{A4A0E7CA-5B89-7E43-8A34-2CBEB42398F9}" destId="{C372FFB8-9985-B740-939F-FEA61D134C16}" srcOrd="2" destOrd="0" presId="urn:microsoft.com/office/officeart/2005/8/layout/vList2"/>
    <dgm:cxn modelId="{A30B107F-70A0-9940-A082-0A72E3B2334C}" type="presParOf" srcId="{A4A0E7CA-5B89-7E43-8A34-2CBEB42398F9}" destId="{119EE7F1-7FAE-B341-A338-59B859EA865C}" srcOrd="3" destOrd="0" presId="urn:microsoft.com/office/officeart/2005/8/layout/vList2"/>
    <dgm:cxn modelId="{B0040957-A251-1549-9989-485CFA0C37F7}" type="presParOf" srcId="{A4A0E7CA-5B89-7E43-8A34-2CBEB42398F9}" destId="{EA857E1D-7DD5-DB4A-B498-A2510F64700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766066-46DC-45AA-A365-7894DF0CF64B}">
      <dsp:nvSpPr>
        <dsp:cNvPr id="0" name=""/>
        <dsp:cNvSpPr/>
      </dsp:nvSpPr>
      <dsp:spPr>
        <a:xfrm>
          <a:off x="1187334" y="1374"/>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2172A8-F380-4F55-9751-F054A840047B}">
      <dsp:nvSpPr>
        <dsp:cNvPr id="0" name=""/>
        <dsp:cNvSpPr/>
      </dsp:nvSpPr>
      <dsp:spPr>
        <a:xfrm>
          <a:off x="1574896" y="388936"/>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B904DB-F1E8-448B-BA29-605C14448399}">
      <dsp:nvSpPr>
        <dsp:cNvPr id="0" name=""/>
        <dsp:cNvSpPr/>
      </dsp:nvSpPr>
      <dsp:spPr>
        <a:xfrm>
          <a:off x="605990" y="2386374"/>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a:t>Unsupervised Learning Project</a:t>
          </a:r>
          <a:endParaRPr lang="en-US" sz="1800" kern="1200"/>
        </a:p>
      </dsp:txBody>
      <dsp:txXfrm>
        <a:off x="605990" y="2386374"/>
        <a:ext cx="2981250" cy="720000"/>
      </dsp:txXfrm>
    </dsp:sp>
    <dsp:sp modelId="{2CE16D4F-3DD0-4032-89DE-EDB0FCC8C803}">
      <dsp:nvSpPr>
        <dsp:cNvPr id="0" name=""/>
        <dsp:cNvSpPr/>
      </dsp:nvSpPr>
      <dsp:spPr>
        <a:xfrm>
          <a:off x="4690303" y="1374"/>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20CFAE-2D45-4233-9C73-D3CC4ED05558}">
      <dsp:nvSpPr>
        <dsp:cNvPr id="0" name=""/>
        <dsp:cNvSpPr/>
      </dsp:nvSpPr>
      <dsp:spPr>
        <a:xfrm>
          <a:off x="5077865" y="388936"/>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4AABD1-9172-4D3A-925B-E615FDF33EC4}">
      <dsp:nvSpPr>
        <dsp:cNvPr id="0" name=""/>
        <dsp:cNvSpPr/>
      </dsp:nvSpPr>
      <dsp:spPr>
        <a:xfrm>
          <a:off x="4108959" y="2386374"/>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dirty="0"/>
            <a:t>DISCOVERING Customer BEHAVIORAL PATTERNS</a:t>
          </a:r>
          <a:endParaRPr lang="en-US" sz="1800" kern="1200" dirty="0"/>
        </a:p>
      </dsp:txBody>
      <dsp:txXfrm>
        <a:off x="4108959" y="2386374"/>
        <a:ext cx="29812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7E41D6-7244-284F-AFC6-89C89D2CB114}">
      <dsp:nvSpPr>
        <dsp:cNvPr id="0" name=""/>
        <dsp:cNvSpPr/>
      </dsp:nvSpPr>
      <dsp:spPr>
        <a:xfrm>
          <a:off x="0" y="331589"/>
          <a:ext cx="4613672" cy="461367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C77C0C-B8D1-F748-B768-94629EEDB07C}">
      <dsp:nvSpPr>
        <dsp:cNvPr id="0" name=""/>
        <dsp:cNvSpPr/>
      </dsp:nvSpPr>
      <dsp:spPr>
        <a:xfrm>
          <a:off x="438298" y="769887"/>
          <a:ext cx="1799332" cy="1799332"/>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Marketing campaign dataset, Kaggle</a:t>
          </a:r>
        </a:p>
      </dsp:txBody>
      <dsp:txXfrm>
        <a:off x="526134" y="857723"/>
        <a:ext cx="1623660" cy="1623660"/>
      </dsp:txXfrm>
    </dsp:sp>
    <dsp:sp modelId="{115088FB-7BD9-9744-B7B9-84B158702FE9}">
      <dsp:nvSpPr>
        <dsp:cNvPr id="0" name=""/>
        <dsp:cNvSpPr/>
      </dsp:nvSpPr>
      <dsp:spPr>
        <a:xfrm>
          <a:off x="2376041" y="769887"/>
          <a:ext cx="1799332" cy="1799332"/>
        </a:xfrm>
        <a:prstGeom prst="roundRect">
          <a:avLst/>
        </a:prstGeom>
        <a:solidFill>
          <a:schemeClr val="accent2">
            <a:hueOff val="-3450630"/>
            <a:satOff val="15286"/>
            <a:lumOff val="-562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2240 samples</a:t>
          </a:r>
        </a:p>
      </dsp:txBody>
      <dsp:txXfrm>
        <a:off x="2463877" y="857723"/>
        <a:ext cx="1623660" cy="1623660"/>
      </dsp:txXfrm>
    </dsp:sp>
    <dsp:sp modelId="{D96DDABA-4715-4C4D-BABF-B9FEB3A499D8}">
      <dsp:nvSpPr>
        <dsp:cNvPr id="0" name=""/>
        <dsp:cNvSpPr/>
      </dsp:nvSpPr>
      <dsp:spPr>
        <a:xfrm>
          <a:off x="438298" y="2707630"/>
          <a:ext cx="1799332" cy="1799332"/>
        </a:xfrm>
        <a:prstGeom prst="roundRect">
          <a:avLst/>
        </a:prstGeom>
        <a:solidFill>
          <a:schemeClr val="accent2">
            <a:hueOff val="-6901260"/>
            <a:satOff val="30573"/>
            <a:lumOff val="-1124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28 features (24 numeric, 3 categorical, 1 date)</a:t>
          </a:r>
        </a:p>
      </dsp:txBody>
      <dsp:txXfrm>
        <a:off x="526134" y="2795466"/>
        <a:ext cx="1623660" cy="1623660"/>
      </dsp:txXfrm>
    </dsp:sp>
    <dsp:sp modelId="{EE46C45C-46F3-B343-AF39-F7CECB74AC7B}">
      <dsp:nvSpPr>
        <dsp:cNvPr id="0" name=""/>
        <dsp:cNvSpPr/>
      </dsp:nvSpPr>
      <dsp:spPr>
        <a:xfrm>
          <a:off x="2376041" y="2707630"/>
          <a:ext cx="1799332" cy="1799332"/>
        </a:xfrm>
        <a:prstGeom prst="roundRect">
          <a:avLst/>
        </a:prstGeom>
        <a:solidFill>
          <a:schemeClr val="accent2">
            <a:hueOff val="-10351890"/>
            <a:satOff val="45859"/>
            <a:lumOff val="-1686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Key features: Income, Education, Spending Score, Recency, Campaigns</a:t>
          </a:r>
        </a:p>
      </dsp:txBody>
      <dsp:txXfrm>
        <a:off x="2463877" y="2795466"/>
        <a:ext cx="1623660" cy="16236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6BD9F4-77A3-BE4F-A146-49F233A6CA38}">
      <dsp:nvSpPr>
        <dsp:cNvPr id="0" name=""/>
        <dsp:cNvSpPr/>
      </dsp:nvSpPr>
      <dsp:spPr>
        <a:xfrm>
          <a:off x="0" y="585342"/>
          <a:ext cx="4205288" cy="902508"/>
        </a:xfrm>
        <a:prstGeom prst="round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Use StandardScaler for scaling numeric features</a:t>
          </a:r>
        </a:p>
      </dsp:txBody>
      <dsp:txXfrm>
        <a:off x="44057" y="629399"/>
        <a:ext cx="4117174" cy="814394"/>
      </dsp:txXfrm>
    </dsp:sp>
    <dsp:sp modelId="{FB80F6C8-A941-E14D-8B5C-D34E4914D014}">
      <dsp:nvSpPr>
        <dsp:cNvPr id="0" name=""/>
        <dsp:cNvSpPr/>
      </dsp:nvSpPr>
      <dsp:spPr>
        <a:xfrm>
          <a:off x="0" y="1536811"/>
          <a:ext cx="4205288" cy="902508"/>
        </a:xfrm>
        <a:prstGeom prst="roundRect">
          <a:avLst/>
        </a:prstGeom>
        <a:gradFill rotWithShape="0">
          <a:gsLst>
            <a:gs pos="0">
              <a:schemeClr val="accent2">
                <a:hueOff val="-3450630"/>
                <a:satOff val="15286"/>
                <a:lumOff val="-5621"/>
                <a:alphaOff val="0"/>
                <a:tint val="97000"/>
                <a:satMod val="100000"/>
                <a:lumMod val="102000"/>
              </a:schemeClr>
            </a:gs>
            <a:gs pos="50000">
              <a:schemeClr val="accent2">
                <a:hueOff val="-3450630"/>
                <a:satOff val="15286"/>
                <a:lumOff val="-5621"/>
                <a:alphaOff val="0"/>
                <a:shade val="100000"/>
                <a:satMod val="103000"/>
                <a:lumMod val="100000"/>
              </a:schemeClr>
            </a:gs>
            <a:gs pos="100000">
              <a:schemeClr val="accent2">
                <a:hueOff val="-3450630"/>
                <a:satOff val="15286"/>
                <a:lumOff val="-5621"/>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Apply OneHotEncoder to transform all categorical features. </a:t>
          </a:r>
        </a:p>
      </dsp:txBody>
      <dsp:txXfrm>
        <a:off x="44057" y="1580868"/>
        <a:ext cx="4117174" cy="814394"/>
      </dsp:txXfrm>
    </dsp:sp>
    <dsp:sp modelId="{25BF0303-2D18-9840-BF2C-F9D4340916D3}">
      <dsp:nvSpPr>
        <dsp:cNvPr id="0" name=""/>
        <dsp:cNvSpPr/>
      </dsp:nvSpPr>
      <dsp:spPr>
        <a:xfrm>
          <a:off x="0" y="2488279"/>
          <a:ext cx="4205288" cy="902508"/>
        </a:xfrm>
        <a:prstGeom prst="roundRect">
          <a:avLst/>
        </a:prstGeom>
        <a:gradFill rotWithShape="0">
          <a:gsLst>
            <a:gs pos="0">
              <a:schemeClr val="accent2">
                <a:hueOff val="-6901260"/>
                <a:satOff val="30573"/>
                <a:lumOff val="-11243"/>
                <a:alphaOff val="0"/>
                <a:tint val="97000"/>
                <a:satMod val="100000"/>
                <a:lumMod val="102000"/>
              </a:schemeClr>
            </a:gs>
            <a:gs pos="50000">
              <a:schemeClr val="accent2">
                <a:hueOff val="-6901260"/>
                <a:satOff val="30573"/>
                <a:lumOff val="-11243"/>
                <a:alphaOff val="0"/>
                <a:shade val="100000"/>
                <a:satMod val="103000"/>
                <a:lumMod val="100000"/>
              </a:schemeClr>
            </a:gs>
            <a:gs pos="100000">
              <a:schemeClr val="accent2">
                <a:hueOff val="-6901260"/>
                <a:satOff val="30573"/>
                <a:lumOff val="-11243"/>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Since PCA and clustering algorithms require dense arrays -&gt; converts the resulting sparse matrix to a dense NumPy array. </a:t>
          </a:r>
        </a:p>
      </dsp:txBody>
      <dsp:txXfrm>
        <a:off x="44057" y="2532336"/>
        <a:ext cx="4117174" cy="814394"/>
      </dsp:txXfrm>
    </dsp:sp>
    <dsp:sp modelId="{7E2094DA-DDF4-7F4B-9BDA-BFD626C744B9}">
      <dsp:nvSpPr>
        <dsp:cNvPr id="0" name=""/>
        <dsp:cNvSpPr/>
      </dsp:nvSpPr>
      <dsp:spPr>
        <a:xfrm>
          <a:off x="0" y="3439748"/>
          <a:ext cx="4205288" cy="902508"/>
        </a:xfrm>
        <a:prstGeom prst="roundRect">
          <a:avLst/>
        </a:prstGeom>
        <a:gradFill rotWithShape="0">
          <a:gsLst>
            <a:gs pos="0">
              <a:schemeClr val="accent2">
                <a:hueOff val="-10351890"/>
                <a:satOff val="45859"/>
                <a:lumOff val="-16864"/>
                <a:alphaOff val="0"/>
                <a:tint val="97000"/>
                <a:satMod val="100000"/>
                <a:lumMod val="102000"/>
              </a:schemeClr>
            </a:gs>
            <a:gs pos="50000">
              <a:schemeClr val="accent2">
                <a:hueOff val="-10351890"/>
                <a:satOff val="45859"/>
                <a:lumOff val="-16864"/>
                <a:alphaOff val="0"/>
                <a:shade val="100000"/>
                <a:satMod val="103000"/>
                <a:lumMod val="100000"/>
              </a:schemeClr>
            </a:gs>
            <a:gs pos="100000">
              <a:schemeClr val="accent2">
                <a:hueOff val="-10351890"/>
                <a:satOff val="45859"/>
                <a:lumOff val="-16864"/>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Use PCA for reducing dimension.</a:t>
          </a:r>
        </a:p>
      </dsp:txBody>
      <dsp:txXfrm>
        <a:off x="44057" y="3483805"/>
        <a:ext cx="4117174" cy="8143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486FFE-C390-3946-8017-7CD26F1DA1CB}">
      <dsp:nvSpPr>
        <dsp:cNvPr id="0" name=""/>
        <dsp:cNvSpPr/>
      </dsp:nvSpPr>
      <dsp:spPr>
        <a:xfrm>
          <a:off x="0" y="74929"/>
          <a:ext cx="4205288" cy="1556100"/>
        </a:xfrm>
        <a:prstGeom prst="round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Class imbalance in 'Response’ (most customers do not respond) -&gt; both clusters to be dominated by label 0, removing the possibility of forming a “responder” cluster. </a:t>
          </a:r>
        </a:p>
      </dsp:txBody>
      <dsp:txXfrm>
        <a:off x="75963" y="150892"/>
        <a:ext cx="4053362" cy="1404174"/>
      </dsp:txXfrm>
    </dsp:sp>
    <dsp:sp modelId="{C372FFB8-9985-B740-939F-FEA61D134C16}">
      <dsp:nvSpPr>
        <dsp:cNvPr id="0" name=""/>
        <dsp:cNvSpPr/>
      </dsp:nvSpPr>
      <dsp:spPr>
        <a:xfrm>
          <a:off x="0" y="1685750"/>
          <a:ext cx="4205288" cy="1556100"/>
        </a:xfrm>
        <a:prstGeom prst="roundRect">
          <a:avLst/>
        </a:prstGeom>
        <a:gradFill rotWithShape="0">
          <a:gsLst>
            <a:gs pos="0">
              <a:schemeClr val="accent5">
                <a:hueOff val="-119936"/>
                <a:satOff val="-4449"/>
                <a:lumOff val="7059"/>
                <a:alphaOff val="0"/>
                <a:tint val="97000"/>
                <a:satMod val="100000"/>
                <a:lumMod val="102000"/>
              </a:schemeClr>
            </a:gs>
            <a:gs pos="50000">
              <a:schemeClr val="accent5">
                <a:hueOff val="-119936"/>
                <a:satOff val="-4449"/>
                <a:lumOff val="7059"/>
                <a:alphaOff val="0"/>
                <a:shade val="100000"/>
                <a:satMod val="103000"/>
                <a:lumMod val="100000"/>
              </a:schemeClr>
            </a:gs>
            <a:gs pos="100000">
              <a:schemeClr val="accent5">
                <a:hueOff val="-119936"/>
                <a:satOff val="-4449"/>
                <a:lumOff val="7059"/>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Clusters reflect socio-economic and behavioral segmentation, not campaign outcome-&gt; clustering is excellent for marketing insights, but not for direct prediction of campaign success. </a:t>
          </a:r>
        </a:p>
      </dsp:txBody>
      <dsp:txXfrm>
        <a:off x="75963" y="1761713"/>
        <a:ext cx="4053362" cy="1404174"/>
      </dsp:txXfrm>
    </dsp:sp>
    <dsp:sp modelId="{EA857E1D-7DD5-DB4A-B498-A2510F647007}">
      <dsp:nvSpPr>
        <dsp:cNvPr id="0" name=""/>
        <dsp:cNvSpPr/>
      </dsp:nvSpPr>
      <dsp:spPr>
        <a:xfrm>
          <a:off x="0" y="3296569"/>
          <a:ext cx="4205288" cy="1556100"/>
        </a:xfrm>
        <a:prstGeom prst="roundRect">
          <a:avLst/>
        </a:prstGeom>
        <a:gradFill rotWithShape="0">
          <a:gsLst>
            <a:gs pos="0">
              <a:schemeClr val="accent5">
                <a:hueOff val="-239873"/>
                <a:satOff val="-8897"/>
                <a:lumOff val="14117"/>
                <a:alphaOff val="0"/>
                <a:tint val="97000"/>
                <a:satMod val="100000"/>
                <a:lumMod val="102000"/>
              </a:schemeClr>
            </a:gs>
            <a:gs pos="50000">
              <a:schemeClr val="accent5">
                <a:hueOff val="-239873"/>
                <a:satOff val="-8897"/>
                <a:lumOff val="14117"/>
                <a:alphaOff val="0"/>
                <a:shade val="100000"/>
                <a:satMod val="103000"/>
                <a:lumMod val="100000"/>
              </a:schemeClr>
            </a:gs>
            <a:gs pos="100000">
              <a:schemeClr val="accent5">
                <a:hueOff val="-239873"/>
                <a:satOff val="-8897"/>
                <a:lumOff val="14117"/>
                <a:alphaOff val="0"/>
                <a:shade val="93000"/>
                <a:satMod val="110000"/>
                <a:lumMod val="99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 PCA keeps components with the highest variance =&gt; some fine-grained predictive information may be lost in dimensionality reduction.</a:t>
          </a:r>
        </a:p>
      </dsp:txBody>
      <dsp:txXfrm>
        <a:off x="75963" y="3372532"/>
        <a:ext cx="4053362" cy="140417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7570405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18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228641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11/16/25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5766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8647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0078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85068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11/16/25</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655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11/16/25</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90431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360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73568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11/16/25</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67804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79DF4F6D-F51C-2D29-D9E0-D7E1570D0D03}"/>
              </a:ext>
            </a:extLst>
          </p:cNvPr>
          <p:cNvGraphicFramePr>
            <a:graphicFrameLocks noGrp="1"/>
          </p:cNvGraphicFramePr>
          <p:nvPr>
            <p:ph idx="1"/>
            <p:extLst>
              <p:ext uri="{D42A27DB-BD31-4B8C-83A1-F6EECF244321}">
                <p14:modId xmlns:p14="http://schemas.microsoft.com/office/powerpoint/2010/main" val="3106729655"/>
              </p:ext>
            </p:extLst>
          </p:nvPr>
        </p:nvGraphicFramePr>
        <p:xfrm>
          <a:off x="723900" y="2638425"/>
          <a:ext cx="7696200"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30262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2629" y="0"/>
            <a:ext cx="68413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067" y="1443035"/>
            <a:ext cx="2978949"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45654" y="1586484"/>
            <a:ext cx="2763774" cy="3685032"/>
          </a:xfrm>
          <a:prstGeom prst="ellipse">
            <a:avLst/>
          </a:prstGeom>
          <a:solidFill>
            <a:schemeClr val="accent2">
              <a:lumMod val="75000"/>
            </a:schemeClr>
          </a:solidFill>
          <a:ln>
            <a:noFill/>
          </a:ln>
        </p:spPr>
        <p:txBody>
          <a:bodyPr>
            <a:normAutofit/>
          </a:bodyPr>
          <a:lstStyle/>
          <a:p>
            <a:r>
              <a:rPr lang="en-US" sz="2000">
                <a:solidFill>
                  <a:srgbClr val="FFFFFF"/>
                </a:solidFill>
              </a:rPr>
              <a:t>Problem Statement</a:t>
            </a:r>
          </a:p>
        </p:txBody>
      </p:sp>
      <p:sp>
        <p:nvSpPr>
          <p:cNvPr id="3" name="Content Placeholder 2"/>
          <p:cNvSpPr>
            <a:spLocks noGrp="1"/>
          </p:cNvSpPr>
          <p:nvPr>
            <p:ph idx="1"/>
          </p:nvPr>
        </p:nvSpPr>
        <p:spPr>
          <a:xfrm>
            <a:off x="4193771" y="1402080"/>
            <a:ext cx="3990522" cy="4053840"/>
          </a:xfrm>
        </p:spPr>
        <p:txBody>
          <a:bodyPr anchor="ctr">
            <a:normAutofit/>
          </a:bodyPr>
          <a:lstStyle/>
          <a:p>
            <a:pPr marL="0" indent="0">
              <a:lnSpc>
                <a:spcPct val="90000"/>
              </a:lnSpc>
              <a:buNone/>
            </a:pPr>
            <a:r>
              <a:rPr lang="en-US" sz="1700" dirty="0"/>
              <a:t>- This project aims to understand customer purchasing behavior and uncover hidden patterns in the marketing campaign dataset without relying on labeled data. </a:t>
            </a:r>
          </a:p>
          <a:p>
            <a:pPr marL="0" indent="0">
              <a:lnSpc>
                <a:spcPct val="90000"/>
              </a:lnSpc>
              <a:buNone/>
            </a:pPr>
            <a:r>
              <a:rPr lang="en-US" sz="1700" dirty="0"/>
              <a:t>- By identifying distinct groups of customers based on their demographic profiles, purchasing behavior, and engagement patterns:</a:t>
            </a:r>
          </a:p>
          <a:p>
            <a:pPr marL="0" indent="0">
              <a:lnSpc>
                <a:spcPct val="90000"/>
              </a:lnSpc>
              <a:buNone/>
            </a:pPr>
            <a:r>
              <a:rPr lang="en-US" sz="1700" dirty="0"/>
              <a:t>+ Explore which customer groups share similar characteristics.</a:t>
            </a:r>
          </a:p>
          <a:p>
            <a:pPr marL="0" indent="0">
              <a:lnSpc>
                <a:spcPct val="90000"/>
              </a:lnSpc>
              <a:buNone/>
            </a:pPr>
            <a:r>
              <a:rPr lang="en-US" sz="1700" dirty="0"/>
              <a:t>+ Provide insights that could support more effective marketing strategies: targeted campaigns, personalized promotions, and customer retention planning.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260" y="1248156"/>
            <a:ext cx="726948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6671" y="1060704"/>
            <a:ext cx="7550658"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73352" y="467418"/>
            <a:ext cx="5797296" cy="1188720"/>
          </a:xfrm>
          <a:solidFill>
            <a:srgbClr val="FFFFFF"/>
          </a:solidFill>
        </p:spPr>
        <p:txBody>
          <a:bodyPr>
            <a:normAutofit/>
          </a:bodyPr>
          <a:lstStyle/>
          <a:p>
            <a:r>
              <a:rPr lang="en-US" dirty="0"/>
              <a:t>What ML approach</a:t>
            </a:r>
            <a:endParaRPr dirty="0"/>
          </a:p>
        </p:txBody>
      </p:sp>
      <p:sp>
        <p:nvSpPr>
          <p:cNvPr id="3" name="Content Placeholder 2"/>
          <p:cNvSpPr>
            <a:spLocks noGrp="1"/>
          </p:cNvSpPr>
          <p:nvPr>
            <p:ph idx="1"/>
          </p:nvPr>
        </p:nvSpPr>
        <p:spPr>
          <a:xfrm>
            <a:off x="1279546" y="2291262"/>
            <a:ext cx="6584634" cy="2879256"/>
          </a:xfrm>
        </p:spPr>
        <p:txBody>
          <a:bodyPr>
            <a:normAutofit/>
          </a:bodyPr>
          <a:lstStyle/>
          <a:p>
            <a:pPr marL="0" indent="0">
              <a:lnSpc>
                <a:spcPct val="90000"/>
              </a:lnSpc>
              <a:buNone/>
            </a:pPr>
            <a:r>
              <a:rPr lang="en-US" sz="1500" dirty="0">
                <a:solidFill>
                  <a:srgbClr val="404040"/>
                </a:solidFill>
              </a:rPr>
              <a:t>Focus on unsupervised clustering:</a:t>
            </a:r>
          </a:p>
          <a:p>
            <a:pPr marL="0" indent="0">
              <a:lnSpc>
                <a:spcPct val="90000"/>
              </a:lnSpc>
              <a:buNone/>
            </a:pPr>
            <a:r>
              <a:rPr lang="en-US" sz="1500" dirty="0">
                <a:solidFill>
                  <a:srgbClr val="404040"/>
                </a:solidFill>
              </a:rPr>
              <a:t>- Principal Component Analysis (PCA):  to reduce dimensionality and capture the key structure of the data; Helps visualize clusters and improves clustering stability.</a:t>
            </a:r>
          </a:p>
          <a:p>
            <a:pPr marL="0" indent="0">
              <a:lnSpc>
                <a:spcPct val="90000"/>
              </a:lnSpc>
              <a:buNone/>
            </a:pPr>
            <a:r>
              <a:rPr lang="en-US" sz="1500" dirty="0">
                <a:solidFill>
                  <a:srgbClr val="404040"/>
                </a:solidFill>
              </a:rPr>
              <a:t>- K-Means Clustering: Creates customer groups by minimizing within-cluster variance; Provides fast and interpretable segmentation.</a:t>
            </a:r>
          </a:p>
          <a:p>
            <a:pPr marL="0" indent="0">
              <a:lnSpc>
                <a:spcPct val="90000"/>
              </a:lnSpc>
              <a:buNone/>
            </a:pPr>
            <a:r>
              <a:rPr lang="en-US" sz="1500" dirty="0">
                <a:solidFill>
                  <a:srgbClr val="404040"/>
                </a:solidFill>
              </a:rPr>
              <a:t>- Agglomerative Hierarchical Clustering: groups similar customers based on hierarchical relationships; Useful to compare against </a:t>
            </a:r>
            <a:r>
              <a:rPr lang="en-US" sz="1500" dirty="0" err="1">
                <a:solidFill>
                  <a:srgbClr val="404040"/>
                </a:solidFill>
              </a:rPr>
              <a:t>KMeans</a:t>
            </a:r>
            <a:r>
              <a:rPr lang="en-US" sz="1500" dirty="0">
                <a:solidFill>
                  <a:srgbClr val="404040"/>
                </a:solidFill>
              </a:rPr>
              <a:t> and validate cluster structure.</a:t>
            </a:r>
          </a:p>
          <a:p>
            <a:pPr marL="0" indent="0">
              <a:lnSpc>
                <a:spcPct val="90000"/>
              </a:lnSpc>
              <a:buNone/>
            </a:pPr>
            <a:r>
              <a:rPr lang="en-US" sz="1500" dirty="0">
                <a:solidFill>
                  <a:srgbClr val="404040"/>
                </a:solidFill>
              </a:rPr>
              <a:t>- A Random Forest classifier was trained on the actual “Response” label to evaluate whether the unsupervised clusters can approximate the true target.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53691"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060" y="2681105"/>
            <a:ext cx="2551176" cy="1495794"/>
          </a:xfrm>
          <a:solidFill>
            <a:srgbClr val="FFFFFF"/>
          </a:solidFill>
          <a:ln>
            <a:solidFill>
              <a:srgbClr val="262626"/>
            </a:solidFill>
          </a:ln>
        </p:spPr>
        <p:txBody>
          <a:bodyPr>
            <a:normAutofit/>
          </a:bodyPr>
          <a:lstStyle/>
          <a:p>
            <a:r>
              <a:t>Dataset Overview</a:t>
            </a:r>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4958" y="0"/>
            <a:ext cx="557904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D59789E-5D09-168C-A378-32D21B631DE8}"/>
              </a:ext>
            </a:extLst>
          </p:cNvPr>
          <p:cNvGraphicFramePr>
            <a:graphicFrameLocks noGrp="1"/>
          </p:cNvGraphicFramePr>
          <p:nvPr>
            <p:ph idx="1"/>
            <p:extLst>
              <p:ext uri="{D42A27DB-BD31-4B8C-83A1-F6EECF244321}">
                <p14:modId xmlns:p14="http://schemas.microsoft.com/office/powerpoint/2010/main" val="445316349"/>
              </p:ext>
            </p:extLst>
          </p:nvPr>
        </p:nvGraphicFramePr>
        <p:xfrm>
          <a:off x="4048125" y="639763"/>
          <a:ext cx="4613672"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Magnifying glass showing decling performance">
            <a:extLst>
              <a:ext uri="{FF2B5EF4-FFF2-40B4-BE49-F238E27FC236}">
                <a16:creationId xmlns:a16="http://schemas.microsoft.com/office/drawing/2014/main" id="{9CD20AA6-824D-CFA7-C174-B0BEF74795A0}"/>
              </a:ext>
            </a:extLst>
          </p:cNvPr>
          <p:cNvPicPr>
            <a:picLocks noChangeAspect="1"/>
          </p:cNvPicPr>
          <p:nvPr/>
        </p:nvPicPr>
        <p:blipFill>
          <a:blip r:embed="rId2"/>
          <a:srcRect l="15927" r="29048" b="-1"/>
          <a:stretch>
            <a:fillRect/>
          </a:stretch>
        </p:blipFill>
        <p:spPr>
          <a:xfrm>
            <a:off x="20" y="10"/>
            <a:ext cx="5653258" cy="6857990"/>
          </a:xfrm>
          <a:prstGeom prst="rect">
            <a:avLst/>
          </a:prstGeom>
        </p:spPr>
      </p:pic>
      <p:sp>
        <p:nvSpPr>
          <p:cNvPr id="2" name="Title 1"/>
          <p:cNvSpPr>
            <a:spLocks noGrp="1"/>
          </p:cNvSpPr>
          <p:nvPr>
            <p:ph type="title"/>
          </p:nvPr>
        </p:nvSpPr>
        <p:spPr>
          <a:xfrm>
            <a:off x="603504" y="2844368"/>
            <a:ext cx="4446270" cy="1188720"/>
          </a:xfrm>
          <a:solidFill>
            <a:schemeClr val="bg1">
              <a:alpha val="80000"/>
            </a:schemeClr>
          </a:solidFill>
          <a:ln>
            <a:solidFill>
              <a:schemeClr val="tx1">
                <a:lumMod val="75000"/>
                <a:lumOff val="25000"/>
              </a:schemeClr>
            </a:solidFill>
          </a:ln>
        </p:spPr>
        <p:txBody>
          <a:bodyPr>
            <a:normAutofit/>
          </a:bodyPr>
          <a:lstStyle/>
          <a:p>
            <a:r>
              <a:rPr lang="en-US">
                <a:solidFill>
                  <a:schemeClr val="tx1">
                    <a:lumMod val="85000"/>
                    <a:lumOff val="15000"/>
                  </a:schemeClr>
                </a:solidFill>
              </a:rPr>
              <a:t>EDA Summary</a:t>
            </a:r>
          </a:p>
        </p:txBody>
      </p:sp>
      <p:sp>
        <p:nvSpPr>
          <p:cNvPr id="9" name="Rectangle 8">
            <a:extLst>
              <a:ext uri="{FF2B5EF4-FFF2-40B4-BE49-F238E27FC236}">
                <a16:creationId xmlns:a16="http://schemas.microsoft.com/office/drawing/2014/main" id="{68D8C857-9447-4941-8520-9A44A926F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3278" y="6740"/>
            <a:ext cx="349072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
          <p:cNvSpPr>
            <a:spLocks noGrp="1"/>
          </p:cNvSpPr>
          <p:nvPr>
            <p:ph idx="1"/>
          </p:nvPr>
        </p:nvSpPr>
        <p:spPr>
          <a:xfrm>
            <a:off x="6181704" y="973600"/>
            <a:ext cx="2530602" cy="4924280"/>
          </a:xfrm>
        </p:spPr>
        <p:txBody>
          <a:bodyPr anchor="ctr">
            <a:normAutofit/>
          </a:bodyPr>
          <a:lstStyle/>
          <a:p>
            <a:pPr marL="0" indent="0">
              <a:lnSpc>
                <a:spcPct val="90000"/>
              </a:lnSpc>
              <a:buNone/>
            </a:pPr>
            <a:r>
              <a:rPr lang="en-US" sz="1500" dirty="0">
                <a:solidFill>
                  <a:srgbClr val="FFFFFF"/>
                </a:solidFill>
              </a:rPr>
              <a:t>- Inspect the distribution of key numerical variables such as income, age, recency, and total spending.</a:t>
            </a:r>
          </a:p>
          <a:p>
            <a:pPr marL="0" indent="0">
              <a:lnSpc>
                <a:spcPct val="90000"/>
              </a:lnSpc>
              <a:buNone/>
            </a:pPr>
            <a:r>
              <a:rPr lang="en-US" sz="1500" dirty="0">
                <a:solidFill>
                  <a:srgbClr val="FFFFFF"/>
                </a:solidFill>
              </a:rPr>
              <a:t> - Explore relationships between features and the campaign response variable</a:t>
            </a:r>
          </a:p>
          <a:p>
            <a:pPr marL="0" indent="0">
              <a:lnSpc>
                <a:spcPct val="90000"/>
              </a:lnSpc>
              <a:buNone/>
            </a:pPr>
            <a:r>
              <a:rPr lang="en-US" sz="1500" dirty="0">
                <a:solidFill>
                  <a:srgbClr val="FFFFFF"/>
                </a:solidFill>
              </a:rPr>
              <a:t> - Identify correlations and possible multicollinearity among features, which motivates the use of PCA and careful feature scaling. </a:t>
            </a:r>
          </a:p>
          <a:p>
            <a:pPr marL="0" indent="0">
              <a:lnSpc>
                <a:spcPct val="90000"/>
              </a:lnSpc>
              <a:buNone/>
            </a:pPr>
            <a:r>
              <a:rPr lang="en-US" sz="1500" dirty="0">
                <a:solidFill>
                  <a:srgbClr val="FFFFFF"/>
                </a:solidFill>
              </a:rPr>
              <a:t>=&gt; combine simple visualizations (histograms, boxplots, bar charts) with a correlation matrix.</a:t>
            </a:r>
            <a:endParaRPr sz="15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2681103"/>
            <a:ext cx="2522980" cy="1495794"/>
          </a:xfrm>
          <a:noFill/>
          <a:ln>
            <a:solidFill>
              <a:schemeClr val="bg1"/>
            </a:solidFill>
          </a:ln>
        </p:spPr>
        <p:txBody>
          <a:bodyPr wrap="square">
            <a:normAutofit/>
          </a:bodyPr>
          <a:lstStyle/>
          <a:p>
            <a:r>
              <a:rPr lang="en-US" sz="1800">
                <a:solidFill>
                  <a:schemeClr val="bg1"/>
                </a:solidFill>
              </a:rPr>
              <a:t>Preprocessing</a:t>
            </a:r>
          </a:p>
        </p:txBody>
      </p:sp>
      <p:graphicFrame>
        <p:nvGraphicFramePr>
          <p:cNvPr id="7" name="Content Placeholder 2">
            <a:extLst>
              <a:ext uri="{FF2B5EF4-FFF2-40B4-BE49-F238E27FC236}">
                <a16:creationId xmlns:a16="http://schemas.microsoft.com/office/drawing/2014/main" id="{E9E62963-FCBA-9E2A-98D3-4352E3CE480D}"/>
              </a:ext>
            </a:extLst>
          </p:cNvPr>
          <p:cNvGraphicFramePr>
            <a:graphicFrameLocks noGrp="1"/>
          </p:cNvGraphicFramePr>
          <p:nvPr>
            <p:ph idx="1"/>
            <p:extLst>
              <p:ext uri="{D42A27DB-BD31-4B8C-83A1-F6EECF244321}">
                <p14:modId xmlns:p14="http://schemas.microsoft.com/office/powerpoint/2010/main" val="2195616912"/>
              </p:ext>
            </p:extLst>
          </p:nvPr>
        </p:nvGraphicFramePr>
        <p:xfrm>
          <a:off x="4214812" y="965200"/>
          <a:ext cx="4205288" cy="492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643467"/>
            <a:ext cx="2522980" cy="1728044"/>
          </a:xfrm>
          <a:noFill/>
          <a:ln>
            <a:solidFill>
              <a:schemeClr val="bg1"/>
            </a:solidFill>
          </a:ln>
        </p:spPr>
        <p:txBody>
          <a:bodyPr vert="horz" wrap="square" lIns="182880" tIns="182880" rIns="182880" bIns="182880" rtlCol="0" anchor="ctr">
            <a:normAutofit/>
          </a:bodyPr>
          <a:lstStyle/>
          <a:p>
            <a:r>
              <a:rPr lang="en-US" sz="1500">
                <a:solidFill>
                  <a:schemeClr val="bg1"/>
                </a:solidFill>
              </a:rPr>
              <a:t>Dimensionality Reduction</a:t>
            </a:r>
          </a:p>
        </p:txBody>
      </p:sp>
      <p:sp>
        <p:nvSpPr>
          <p:cNvPr id="7" name="Title 1">
            <a:extLst>
              <a:ext uri="{FF2B5EF4-FFF2-40B4-BE49-F238E27FC236}">
                <a16:creationId xmlns:a16="http://schemas.microsoft.com/office/drawing/2014/main" id="{FE85CE75-73B0-3CBF-0993-D5E1204EEA2F}"/>
              </a:ext>
            </a:extLst>
          </p:cNvPr>
          <p:cNvSpPr txBox="1">
            <a:spLocks/>
          </p:cNvSpPr>
          <p:nvPr/>
        </p:nvSpPr>
        <p:spPr>
          <a:xfrm>
            <a:off x="482601" y="2638044"/>
            <a:ext cx="2522980" cy="3415622"/>
          </a:xfrm>
          <a:prstGeom prst="rect">
            <a:avLst/>
          </a:prstGeom>
        </p:spPr>
        <p:txBody>
          <a:bodyPr vert="horz" lIns="91440" tIns="45720" rIns="91440" bIns="45720" rtlCol="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indent="-228600" algn="l" defTabSz="914400">
              <a:lnSpc>
                <a:spcPct val="90000"/>
              </a:lnSpc>
              <a:spcBef>
                <a:spcPts val="1000"/>
              </a:spcBef>
              <a:buClr>
                <a:schemeClr val="accent2"/>
              </a:buClr>
              <a:buFont typeface="Arial" panose="020B0604020202020204" pitchFamily="34" charset="0"/>
              <a:buChar char="•"/>
            </a:pPr>
            <a:r>
              <a:rPr lang="en-US" sz="2100">
                <a:solidFill>
                  <a:schemeClr val="bg1"/>
                </a:solidFill>
                <a:latin typeface="+mn-lt"/>
                <a:ea typeface="+mn-ea"/>
                <a:cs typeface="+mn-cs"/>
              </a:rPr>
              <a:t>The first 18 principal components capture approximately 90% of the total variance=&gt; reduce the dataset from 40+ features to 18 while preserving most of the information.</a:t>
            </a:r>
          </a:p>
        </p:txBody>
      </p:sp>
      <p:pic>
        <p:nvPicPr>
          <p:cNvPr id="5" name="Content Placeholder 4" descr="A graph with a dotted line&#10;&#10;AI-generated content may be incorrect.">
            <a:extLst>
              <a:ext uri="{FF2B5EF4-FFF2-40B4-BE49-F238E27FC236}">
                <a16:creationId xmlns:a16="http://schemas.microsoft.com/office/drawing/2014/main" id="{5B6F755C-1A3D-CCFA-06E5-519C055A0FA8}"/>
              </a:ext>
            </a:extLst>
          </p:cNvPr>
          <p:cNvPicPr>
            <a:picLocks noGrp="1" noChangeAspect="1"/>
          </p:cNvPicPr>
          <p:nvPr>
            <p:ph idx="1"/>
          </p:nvPr>
        </p:nvPicPr>
        <p:blipFill>
          <a:blip r:embed="rId2"/>
          <a:stretch>
            <a:fillRect/>
          </a:stretch>
        </p:blipFill>
        <p:spPr>
          <a:xfrm>
            <a:off x="3973322" y="1690160"/>
            <a:ext cx="4688077" cy="3316813"/>
          </a:xfrm>
          <a:prstGeom prst="rect">
            <a:avLst/>
          </a:prstGeom>
        </p:spPr>
      </p:pic>
      <p:sp>
        <p:nvSpPr>
          <p:cNvPr id="6" name="Title 1">
            <a:extLst>
              <a:ext uri="{FF2B5EF4-FFF2-40B4-BE49-F238E27FC236}">
                <a16:creationId xmlns:a16="http://schemas.microsoft.com/office/drawing/2014/main" id="{37CD8093-506B-307D-DC90-36E3D1BCBAF3}"/>
              </a:ext>
            </a:extLst>
          </p:cNvPr>
          <p:cNvSpPr txBox="1">
            <a:spLocks/>
          </p:cNvSpPr>
          <p:nvPr/>
        </p:nvSpPr>
        <p:spPr>
          <a:xfrm>
            <a:off x="457200" y="1068306"/>
            <a:ext cx="8229600" cy="675388"/>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964692"/>
            <a:ext cx="2300202" cy="1188720"/>
          </a:xfrm>
        </p:spPr>
        <p:txBody>
          <a:bodyPr>
            <a:normAutofit/>
          </a:bodyPr>
          <a:lstStyle/>
          <a:p>
            <a:r>
              <a:rPr lang="en-US" sz="2200"/>
              <a:t>Clustering Models</a:t>
            </a:r>
          </a:p>
        </p:txBody>
      </p:sp>
      <p:sp>
        <p:nvSpPr>
          <p:cNvPr id="3" name="Content Placeholder 2"/>
          <p:cNvSpPr>
            <a:spLocks noGrp="1"/>
          </p:cNvSpPr>
          <p:nvPr>
            <p:ph idx="1"/>
          </p:nvPr>
        </p:nvSpPr>
        <p:spPr>
          <a:xfrm>
            <a:off x="602433" y="2638044"/>
            <a:ext cx="2297823" cy="3263206"/>
          </a:xfrm>
        </p:spPr>
        <p:txBody>
          <a:bodyPr>
            <a:normAutofit/>
          </a:bodyPr>
          <a:lstStyle/>
          <a:p>
            <a:pPr>
              <a:lnSpc>
                <a:spcPct val="90000"/>
              </a:lnSpc>
            </a:pPr>
            <a:r>
              <a:rPr lang="en-US" sz="1700" dirty="0" err="1"/>
              <a:t>KMeans</a:t>
            </a:r>
            <a:r>
              <a:rPr lang="en-US" sz="1700" dirty="0"/>
              <a:t> and Agglomerative Hierarchical Clustering.</a:t>
            </a:r>
          </a:p>
          <a:p>
            <a:pPr>
              <a:lnSpc>
                <a:spcPct val="90000"/>
              </a:lnSpc>
            </a:pPr>
            <a:r>
              <a:rPr lang="en-US" sz="1700" dirty="0"/>
              <a:t>Scores drop noticeably after k=2=&gt; dividing the data into more than two clusters result in poorer separation and less meaningful group structure.</a:t>
            </a:r>
          </a:p>
        </p:txBody>
      </p:sp>
      <p:sp>
        <p:nvSpPr>
          <p:cNvPr id="19" name="Rectangle 18">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0636" y="964692"/>
            <a:ext cx="5164074"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3351" y="1128683"/>
            <a:ext cx="4918644"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with a line and a line&#10;&#10;AI-generated content may be incorrect.">
            <a:extLst>
              <a:ext uri="{FF2B5EF4-FFF2-40B4-BE49-F238E27FC236}">
                <a16:creationId xmlns:a16="http://schemas.microsoft.com/office/drawing/2014/main" id="{FED86D3F-1046-333A-6463-9BB1BEAD2511}"/>
              </a:ext>
            </a:extLst>
          </p:cNvPr>
          <p:cNvPicPr>
            <a:picLocks noChangeAspect="1"/>
          </p:cNvPicPr>
          <p:nvPr/>
        </p:nvPicPr>
        <p:blipFill>
          <a:blip r:embed="rId2"/>
          <a:stretch>
            <a:fillRect/>
          </a:stretch>
        </p:blipFill>
        <p:spPr>
          <a:xfrm>
            <a:off x="3617524" y="2043557"/>
            <a:ext cx="4670298" cy="27788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30262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2629" y="0"/>
            <a:ext cx="68413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067" y="1443035"/>
            <a:ext cx="2978949"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45654" y="1586484"/>
            <a:ext cx="2763774" cy="3685032"/>
          </a:xfrm>
          <a:prstGeom prst="ellipse">
            <a:avLst/>
          </a:prstGeom>
          <a:solidFill>
            <a:schemeClr val="accent2">
              <a:lumMod val="75000"/>
            </a:schemeClr>
          </a:solidFill>
          <a:ln>
            <a:noFill/>
          </a:ln>
        </p:spPr>
        <p:txBody>
          <a:bodyPr>
            <a:normAutofit/>
          </a:bodyPr>
          <a:lstStyle/>
          <a:p>
            <a:r>
              <a:rPr lang="en-US" sz="1600">
                <a:solidFill>
                  <a:srgbClr val="FFFFFF"/>
                </a:solidFill>
              </a:rPr>
              <a:t>Model Evaluation Metrics</a:t>
            </a:r>
          </a:p>
        </p:txBody>
      </p:sp>
      <p:sp>
        <p:nvSpPr>
          <p:cNvPr id="3" name="Content Placeholder 2"/>
          <p:cNvSpPr>
            <a:spLocks noGrp="1"/>
          </p:cNvSpPr>
          <p:nvPr>
            <p:ph idx="1"/>
          </p:nvPr>
        </p:nvSpPr>
        <p:spPr>
          <a:xfrm>
            <a:off x="4193771" y="1402080"/>
            <a:ext cx="3990522" cy="4053840"/>
          </a:xfrm>
        </p:spPr>
        <p:txBody>
          <a:bodyPr anchor="ctr">
            <a:normAutofit/>
          </a:bodyPr>
          <a:lstStyle/>
          <a:p>
            <a:r>
              <a:rPr dirty="0"/>
              <a:t>Silhouette Score</a:t>
            </a:r>
          </a:p>
          <a:p>
            <a:r>
              <a:rPr dirty="0"/>
              <a:t>Davies-Bouldin Score</a:t>
            </a:r>
            <a:endParaRPr lang="en-US" dirty="0"/>
          </a:p>
          <a:p>
            <a:r>
              <a:rPr lang="en-US" dirty="0"/>
              <a:t>Both metrics are computed on the PCA-transformed feature space with k = 2 clusters.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0BC020-BDBF-49EB-9898-BAB5BF559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950C64-5D81-40F1-9601-8BA0D63BA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9144000" cy="3429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73352" y="3781241"/>
            <a:ext cx="5797296" cy="855406"/>
          </a:xfrm>
          <a:noFill/>
          <a:ln>
            <a:solidFill>
              <a:schemeClr val="bg1"/>
            </a:solidFill>
          </a:ln>
        </p:spPr>
        <p:txBody>
          <a:bodyPr>
            <a:normAutofit/>
          </a:bodyPr>
          <a:lstStyle/>
          <a:p>
            <a:r>
              <a:rPr lang="en-US" sz="2100">
                <a:solidFill>
                  <a:schemeClr val="bg1"/>
                </a:solidFill>
              </a:rPr>
              <a:t>Clustering Results</a:t>
            </a:r>
          </a:p>
        </p:txBody>
      </p:sp>
      <p:pic>
        <p:nvPicPr>
          <p:cNvPr id="5" name="Picture 4">
            <a:extLst>
              <a:ext uri="{FF2B5EF4-FFF2-40B4-BE49-F238E27FC236}">
                <a16:creationId xmlns:a16="http://schemas.microsoft.com/office/drawing/2014/main" id="{20EAA0BB-6430-8FD2-3413-ECB00F3CA819}"/>
              </a:ext>
            </a:extLst>
          </p:cNvPr>
          <p:cNvPicPr>
            <a:picLocks noChangeAspect="1"/>
          </p:cNvPicPr>
          <p:nvPr/>
        </p:nvPicPr>
        <p:blipFill>
          <a:blip r:embed="rId2"/>
          <a:stretch>
            <a:fillRect/>
          </a:stretch>
        </p:blipFill>
        <p:spPr>
          <a:xfrm>
            <a:off x="1794013" y="1618996"/>
            <a:ext cx="5555973" cy="625047"/>
          </a:xfrm>
          <a:prstGeom prst="rect">
            <a:avLst/>
          </a:prstGeom>
        </p:spPr>
      </p:pic>
      <p:sp>
        <p:nvSpPr>
          <p:cNvPr id="3" name="Content Placeholder 2"/>
          <p:cNvSpPr>
            <a:spLocks noGrp="1"/>
          </p:cNvSpPr>
          <p:nvPr>
            <p:ph idx="1"/>
          </p:nvPr>
        </p:nvSpPr>
        <p:spPr>
          <a:xfrm>
            <a:off x="1678809" y="4846076"/>
            <a:ext cx="5786382" cy="1271556"/>
          </a:xfrm>
        </p:spPr>
        <p:txBody>
          <a:bodyPr>
            <a:normAutofit/>
          </a:bodyPr>
          <a:lstStyle/>
          <a:p>
            <a:pPr>
              <a:lnSpc>
                <a:spcPct val="90000"/>
              </a:lnSpc>
            </a:pPr>
            <a:r>
              <a:rPr lang="en-US" sz="1500" dirty="0">
                <a:solidFill>
                  <a:schemeClr val="bg1"/>
                </a:solidFill>
              </a:rPr>
              <a:t>Both methods achieve moderate Silhouette scores (~0.24–0.28)-&gt; there is some cluster structure in the data, but not perfectly clean separation.</a:t>
            </a:r>
          </a:p>
          <a:p>
            <a:pPr>
              <a:lnSpc>
                <a:spcPct val="90000"/>
              </a:lnSpc>
            </a:pPr>
            <a:r>
              <a:rPr lang="en-US" sz="1500" dirty="0">
                <a:solidFill>
                  <a:schemeClr val="bg1"/>
                </a:solidFill>
              </a:rPr>
              <a:t> </a:t>
            </a:r>
            <a:r>
              <a:rPr lang="en-US" sz="1500" dirty="0" err="1">
                <a:solidFill>
                  <a:schemeClr val="bg1"/>
                </a:solidFill>
              </a:rPr>
              <a:t>KMeans</a:t>
            </a:r>
            <a:r>
              <a:rPr lang="en-US" sz="1500" dirty="0">
                <a:solidFill>
                  <a:schemeClr val="bg1"/>
                </a:solidFill>
              </a:rPr>
              <a:t> outperforms Agglomerative on both metrics: Slightly higher Silhouette (0.2775 vs 0.2418) and Slightly lower DB (1.56 vs 1.61).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0BC020-BDBF-49EB-9898-BAB5BF559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950C64-5D81-40F1-9601-8BA0D63BA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9144000" cy="3429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73352" y="3781241"/>
            <a:ext cx="5797296" cy="855406"/>
          </a:xfrm>
          <a:noFill/>
          <a:ln>
            <a:solidFill>
              <a:schemeClr val="bg1"/>
            </a:solidFill>
          </a:ln>
        </p:spPr>
        <p:txBody>
          <a:bodyPr>
            <a:normAutofit/>
          </a:bodyPr>
          <a:lstStyle/>
          <a:p>
            <a:r>
              <a:rPr lang="en-US" sz="2100">
                <a:solidFill>
                  <a:schemeClr val="bg1"/>
                </a:solidFill>
              </a:rPr>
              <a:t>Cluster Size Summary</a:t>
            </a:r>
          </a:p>
        </p:txBody>
      </p:sp>
      <p:pic>
        <p:nvPicPr>
          <p:cNvPr id="5" name="Picture 4" descr="A white background with black text&#10;&#10;AI-generated content may be incorrect.">
            <a:extLst>
              <a:ext uri="{FF2B5EF4-FFF2-40B4-BE49-F238E27FC236}">
                <a16:creationId xmlns:a16="http://schemas.microsoft.com/office/drawing/2014/main" id="{584642D9-816C-7EC1-2901-F0838381B3EE}"/>
              </a:ext>
            </a:extLst>
          </p:cNvPr>
          <p:cNvPicPr>
            <a:picLocks noChangeAspect="1"/>
          </p:cNvPicPr>
          <p:nvPr/>
        </p:nvPicPr>
        <p:blipFill>
          <a:blip r:embed="rId2"/>
          <a:srcRect r="45333"/>
          <a:stretch>
            <a:fillRect/>
          </a:stretch>
        </p:blipFill>
        <p:spPr>
          <a:xfrm>
            <a:off x="20" y="-2"/>
            <a:ext cx="9143980" cy="3429000"/>
          </a:xfrm>
          <a:prstGeom prst="rect">
            <a:avLst/>
          </a:prstGeom>
        </p:spPr>
      </p:pic>
      <p:sp>
        <p:nvSpPr>
          <p:cNvPr id="3" name="Content Placeholder 2"/>
          <p:cNvSpPr>
            <a:spLocks noGrp="1"/>
          </p:cNvSpPr>
          <p:nvPr>
            <p:ph idx="1"/>
          </p:nvPr>
        </p:nvSpPr>
        <p:spPr>
          <a:xfrm>
            <a:off x="1678809" y="4846076"/>
            <a:ext cx="5786382" cy="1271556"/>
          </a:xfrm>
        </p:spPr>
        <p:txBody>
          <a:bodyPr>
            <a:normAutofit/>
          </a:bodyPr>
          <a:lstStyle/>
          <a:p>
            <a:pPr>
              <a:lnSpc>
                <a:spcPct val="90000"/>
              </a:lnSpc>
            </a:pPr>
            <a:r>
              <a:rPr lang="en-US" sz="1300">
                <a:solidFill>
                  <a:schemeClr val="bg1"/>
                </a:solidFill>
              </a:rPr>
              <a:t>KMeans creates a mildly imbalanced split (about 57% vs 43% of customers). </a:t>
            </a:r>
          </a:p>
          <a:p>
            <a:pPr>
              <a:lnSpc>
                <a:spcPct val="90000"/>
              </a:lnSpc>
            </a:pPr>
            <a:r>
              <a:rPr lang="en-US" sz="1300">
                <a:solidFill>
                  <a:schemeClr val="bg1"/>
                </a:solidFill>
              </a:rPr>
              <a:t>Agglomerative produces a more balanced partition (roughly 51% vs 49%). </a:t>
            </a:r>
          </a:p>
          <a:p>
            <a:pPr>
              <a:lnSpc>
                <a:spcPct val="90000"/>
              </a:lnSpc>
            </a:pPr>
            <a:r>
              <a:rPr lang="en-US" sz="1300">
                <a:solidFill>
                  <a:schemeClr val="bg1"/>
                </a:solidFill>
              </a:rPr>
              <a:t>Both partitions are reasonable. The slight imbalance in KMeans is acceptable and may reflect a real difference between a larger customer group and a smaller, more distinct segment.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643467"/>
            <a:ext cx="2522980" cy="1728044"/>
          </a:xfrm>
          <a:noFill/>
          <a:ln>
            <a:solidFill>
              <a:schemeClr val="bg1"/>
            </a:solidFill>
          </a:ln>
        </p:spPr>
        <p:txBody>
          <a:bodyPr wrap="square">
            <a:normAutofit/>
          </a:bodyPr>
          <a:lstStyle/>
          <a:p>
            <a:r>
              <a:rPr lang="en-US" sz="1600">
                <a:solidFill>
                  <a:schemeClr val="bg1"/>
                </a:solidFill>
              </a:rPr>
              <a:t>Kmeans Cluster Interpretation</a:t>
            </a:r>
          </a:p>
        </p:txBody>
      </p:sp>
      <p:sp>
        <p:nvSpPr>
          <p:cNvPr id="3" name="Content Placeholder 2"/>
          <p:cNvSpPr>
            <a:spLocks noGrp="1"/>
          </p:cNvSpPr>
          <p:nvPr>
            <p:ph idx="1"/>
          </p:nvPr>
        </p:nvSpPr>
        <p:spPr>
          <a:xfrm>
            <a:off x="482601" y="2638044"/>
            <a:ext cx="2522980" cy="3415622"/>
          </a:xfrm>
        </p:spPr>
        <p:txBody>
          <a:bodyPr>
            <a:normAutofit/>
          </a:bodyPr>
          <a:lstStyle/>
          <a:p>
            <a:pPr marL="0" indent="0">
              <a:buNone/>
            </a:pPr>
            <a:r>
              <a:rPr lang="en-US">
                <a:solidFill>
                  <a:schemeClr val="bg1"/>
                </a:solidFill>
              </a:rPr>
              <a:t>KMeans: the two clusters form an almost diagonal separation: One cluster occupies mostly the left side and the other cluster occupies the right side. There is some overlap in the middle, but the boundary between the two segments is visually clear.</a:t>
            </a:r>
          </a:p>
          <a:p>
            <a:pPr marL="0" indent="0">
              <a:buNone/>
            </a:pPr>
            <a:endParaRPr lang="en-US">
              <a:solidFill>
                <a:schemeClr val="bg1"/>
              </a:solidFill>
            </a:endParaRPr>
          </a:p>
        </p:txBody>
      </p:sp>
      <p:pic>
        <p:nvPicPr>
          <p:cNvPr id="5" name="Picture 4" descr="A diagram of a cluster of dots&#10;&#10;AI-generated content may be incorrect.">
            <a:extLst>
              <a:ext uri="{FF2B5EF4-FFF2-40B4-BE49-F238E27FC236}">
                <a16:creationId xmlns:a16="http://schemas.microsoft.com/office/drawing/2014/main" id="{DAF94708-ACD1-46B5-2D44-D9AB058E4BD2}"/>
              </a:ext>
            </a:extLst>
          </p:cNvPr>
          <p:cNvPicPr>
            <a:picLocks noChangeAspect="1"/>
          </p:cNvPicPr>
          <p:nvPr/>
        </p:nvPicPr>
        <p:blipFill>
          <a:blip r:embed="rId2"/>
          <a:stretch>
            <a:fillRect/>
          </a:stretch>
        </p:blipFill>
        <p:spPr>
          <a:xfrm>
            <a:off x="3973322" y="1625698"/>
            <a:ext cx="4688077" cy="34457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3278"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38419" y="643467"/>
            <a:ext cx="2522980" cy="1728044"/>
          </a:xfrm>
          <a:noFill/>
          <a:ln>
            <a:solidFill>
              <a:schemeClr val="bg1"/>
            </a:solidFill>
          </a:ln>
        </p:spPr>
        <p:txBody>
          <a:bodyPr wrap="square">
            <a:normAutofit/>
          </a:bodyPr>
          <a:lstStyle/>
          <a:p>
            <a:r>
              <a:rPr lang="en-US" sz="1600">
                <a:solidFill>
                  <a:schemeClr val="bg1"/>
                </a:solidFill>
              </a:rPr>
              <a:t>Agglomerative cluster interpretation</a:t>
            </a:r>
          </a:p>
        </p:txBody>
      </p:sp>
      <p:pic>
        <p:nvPicPr>
          <p:cNvPr id="5" name="Picture 4">
            <a:extLst>
              <a:ext uri="{FF2B5EF4-FFF2-40B4-BE49-F238E27FC236}">
                <a16:creationId xmlns:a16="http://schemas.microsoft.com/office/drawing/2014/main" id="{5ACD6CE5-38F8-8A21-FCD7-CA954940B64B}"/>
              </a:ext>
            </a:extLst>
          </p:cNvPr>
          <p:cNvPicPr>
            <a:picLocks noChangeAspect="1"/>
          </p:cNvPicPr>
          <p:nvPr/>
        </p:nvPicPr>
        <p:blipFill>
          <a:blip r:embed="rId2"/>
          <a:stretch>
            <a:fillRect/>
          </a:stretch>
        </p:blipFill>
        <p:spPr>
          <a:xfrm>
            <a:off x="482601" y="1526078"/>
            <a:ext cx="4688076" cy="3644977"/>
          </a:xfrm>
          <a:prstGeom prst="rect">
            <a:avLst/>
          </a:prstGeom>
        </p:spPr>
      </p:pic>
      <p:sp>
        <p:nvSpPr>
          <p:cNvPr id="3" name="Content Placeholder 2"/>
          <p:cNvSpPr>
            <a:spLocks noGrp="1"/>
          </p:cNvSpPr>
          <p:nvPr>
            <p:ph idx="1"/>
          </p:nvPr>
        </p:nvSpPr>
        <p:spPr>
          <a:xfrm>
            <a:off x="6138418" y="2638044"/>
            <a:ext cx="2522981" cy="3415622"/>
          </a:xfrm>
        </p:spPr>
        <p:txBody>
          <a:bodyPr>
            <a:normAutofit/>
          </a:bodyPr>
          <a:lstStyle/>
          <a:p>
            <a:pPr marL="0" indent="0">
              <a:lnSpc>
                <a:spcPct val="90000"/>
              </a:lnSpc>
              <a:buNone/>
            </a:pPr>
            <a:r>
              <a:rPr lang="en-US">
                <a:solidFill>
                  <a:schemeClr val="bg1"/>
                </a:solidFill>
              </a:rPr>
              <a:t>Agglomerative: one cluster is concentrated more strongly on the far left, while the other spreads across a larger region to the right. The overlap between orange and blue points is more noticeable, especially in the central region of the plot-&gt;the clusters are less cleanly separated compared to KMeans.</a:t>
            </a:r>
          </a:p>
          <a:p>
            <a:pPr>
              <a:lnSpc>
                <a:spcPct val="90000"/>
              </a:lnSpc>
            </a:pPr>
            <a:endParaRPr lang="en-US">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7119" y="0"/>
            <a:ext cx="5937755" cy="1188720"/>
          </a:xfrm>
        </p:spPr>
        <p:txBody>
          <a:bodyPr/>
          <a:lstStyle/>
          <a:p>
            <a:r>
              <a:rPr lang="en-US"/>
              <a:t>Predictive Evaluation</a:t>
            </a:r>
          </a:p>
        </p:txBody>
      </p:sp>
      <p:sp>
        <p:nvSpPr>
          <p:cNvPr id="3" name="Content Placeholder 2"/>
          <p:cNvSpPr>
            <a:spLocks noGrp="1"/>
          </p:cNvSpPr>
          <p:nvPr>
            <p:ph idx="1"/>
          </p:nvPr>
        </p:nvSpPr>
        <p:spPr>
          <a:xfrm>
            <a:off x="457200" y="1330036"/>
            <a:ext cx="8229600" cy="5253326"/>
          </a:xfrm>
        </p:spPr>
        <p:txBody>
          <a:bodyPr>
            <a:normAutofit/>
          </a:bodyPr>
          <a:lstStyle/>
          <a:p>
            <a:pPr marL="0" indent="0">
              <a:buNone/>
            </a:pPr>
            <a:r>
              <a:rPr lang="en-US" sz="2400" dirty="0"/>
              <a:t>Evaluate if the unsupervised models can approximate label prediction by aligning clusters with the majority class.</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dirty="0"/>
              <a:t>Both clusters are dominated by customers with Response 0-&gt; the dataset is heavily imbalanced in Response feature, with non-responders forming the majority in both behavioral segments.</a:t>
            </a:r>
          </a:p>
          <a:p>
            <a:pPr marL="0" indent="0">
              <a:buNone/>
            </a:pPr>
            <a:r>
              <a:rPr lang="en-US" sz="2400" dirty="0"/>
              <a:t>Although clustering successfully identifies meaningful customer groups, the true campaign responders are too few and too mixed across the dataset to form their own cluster.</a:t>
            </a:r>
          </a:p>
          <a:p>
            <a:pPr marL="0" indent="0">
              <a:buNone/>
            </a:pPr>
            <a:endParaRPr sz="2400" dirty="0"/>
          </a:p>
        </p:txBody>
      </p:sp>
      <p:pic>
        <p:nvPicPr>
          <p:cNvPr id="5" name="Picture 4">
            <a:extLst>
              <a:ext uri="{FF2B5EF4-FFF2-40B4-BE49-F238E27FC236}">
                <a16:creationId xmlns:a16="http://schemas.microsoft.com/office/drawing/2014/main" id="{A3E0119C-5E2E-0DE9-6DD7-2E133D302364}"/>
              </a:ext>
            </a:extLst>
          </p:cNvPr>
          <p:cNvPicPr>
            <a:picLocks noChangeAspect="1"/>
          </p:cNvPicPr>
          <p:nvPr/>
        </p:nvPicPr>
        <p:blipFill>
          <a:blip r:embed="rId2"/>
          <a:stretch>
            <a:fillRect/>
          </a:stretch>
        </p:blipFill>
        <p:spPr>
          <a:xfrm>
            <a:off x="1077109" y="2590717"/>
            <a:ext cx="5778500" cy="8382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Picture 4" descr="Top view of cubes connected with black lines">
            <a:extLst>
              <a:ext uri="{FF2B5EF4-FFF2-40B4-BE49-F238E27FC236}">
                <a16:creationId xmlns:a16="http://schemas.microsoft.com/office/drawing/2014/main" id="{A26D9B4F-CDE0-724C-FBB1-2B2AF863C1B4}"/>
              </a:ext>
            </a:extLst>
          </p:cNvPr>
          <p:cNvPicPr>
            <a:picLocks noChangeAspect="1"/>
          </p:cNvPicPr>
          <p:nvPr/>
        </p:nvPicPr>
        <p:blipFill>
          <a:blip r:embed="rId2"/>
          <a:srcRect l="29961" r="20039"/>
          <a:stretch>
            <a:fillRect/>
          </a:stretch>
        </p:blipFill>
        <p:spPr>
          <a:xfrm>
            <a:off x="481" y="10"/>
            <a:ext cx="4572000" cy="6857990"/>
          </a:xfrm>
          <a:prstGeom prst="rect">
            <a:avLst/>
          </a:prstGeom>
        </p:spPr>
      </p:pic>
      <p:sp>
        <p:nvSpPr>
          <p:cNvPr id="2" name="Title 1"/>
          <p:cNvSpPr>
            <a:spLocks noGrp="1"/>
          </p:cNvSpPr>
          <p:nvPr>
            <p:ph type="title"/>
          </p:nvPr>
        </p:nvSpPr>
        <p:spPr>
          <a:xfrm>
            <a:off x="603504" y="2841505"/>
            <a:ext cx="3365473" cy="1174991"/>
          </a:xfrm>
          <a:solidFill>
            <a:schemeClr val="tx1">
              <a:alpha val="60000"/>
            </a:schemeClr>
          </a:solidFill>
          <a:ln>
            <a:solidFill>
              <a:schemeClr val="bg1"/>
            </a:solidFill>
          </a:ln>
        </p:spPr>
        <p:txBody>
          <a:bodyPr>
            <a:normAutofit/>
          </a:bodyPr>
          <a:lstStyle/>
          <a:p>
            <a:r>
              <a:rPr lang="en-US" sz="2100">
                <a:solidFill>
                  <a:schemeClr val="bg1"/>
                </a:solidFill>
              </a:rPr>
              <a:t>Supervised Comparison</a:t>
            </a:r>
          </a:p>
        </p:txBody>
      </p:sp>
      <p:sp>
        <p:nvSpPr>
          <p:cNvPr id="3" name="Content Placeholder 2"/>
          <p:cNvSpPr>
            <a:spLocks noGrp="1"/>
          </p:cNvSpPr>
          <p:nvPr>
            <p:ph idx="1"/>
          </p:nvPr>
        </p:nvSpPr>
        <p:spPr>
          <a:xfrm>
            <a:off x="5057955" y="976129"/>
            <a:ext cx="3603699" cy="4919815"/>
          </a:xfrm>
        </p:spPr>
        <p:txBody>
          <a:bodyPr anchor="ctr">
            <a:normAutofit/>
          </a:bodyPr>
          <a:lstStyle/>
          <a:p>
            <a:r>
              <a:rPr lang="en-US" dirty="0"/>
              <a:t>Also train the data with a supervised model to highlight differences in predictive accuracy.</a:t>
            </a:r>
          </a:p>
          <a:p>
            <a:r>
              <a:rPr lang="en-US" dirty="0"/>
              <a:t>Supervised learning (Random Forest) provided better predictive performance (89%) because supervised models directly optimize for the target label, learn subtle interactions between features, and use minority-class patterns better than clustering.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2681103"/>
            <a:ext cx="2522980" cy="1495794"/>
          </a:xfrm>
          <a:noFill/>
          <a:ln>
            <a:solidFill>
              <a:schemeClr val="bg1"/>
            </a:solidFill>
          </a:ln>
        </p:spPr>
        <p:txBody>
          <a:bodyPr wrap="square">
            <a:normAutofit/>
          </a:bodyPr>
          <a:lstStyle/>
          <a:p>
            <a:r>
              <a:rPr lang="en-US" sz="2400">
                <a:solidFill>
                  <a:schemeClr val="bg1"/>
                </a:solidFill>
              </a:rPr>
              <a:t>Limitations</a:t>
            </a:r>
          </a:p>
        </p:txBody>
      </p:sp>
      <p:graphicFrame>
        <p:nvGraphicFramePr>
          <p:cNvPr id="7" name="Content Placeholder 2">
            <a:extLst>
              <a:ext uri="{FF2B5EF4-FFF2-40B4-BE49-F238E27FC236}">
                <a16:creationId xmlns:a16="http://schemas.microsoft.com/office/drawing/2014/main" id="{F0255975-5F7F-D4BC-5AE5-AC3861638B1E}"/>
              </a:ext>
            </a:extLst>
          </p:cNvPr>
          <p:cNvGraphicFramePr>
            <a:graphicFrameLocks noGrp="1"/>
          </p:cNvGraphicFramePr>
          <p:nvPr>
            <p:ph idx="1"/>
            <p:extLst>
              <p:ext uri="{D42A27DB-BD31-4B8C-83A1-F6EECF244321}">
                <p14:modId xmlns:p14="http://schemas.microsoft.com/office/powerpoint/2010/main" val="1291910983"/>
              </p:ext>
            </p:extLst>
          </p:nvPr>
        </p:nvGraphicFramePr>
        <p:xfrm>
          <a:off x="4214812" y="965200"/>
          <a:ext cx="4205288" cy="492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260" y="1248156"/>
            <a:ext cx="726948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6671" y="1060704"/>
            <a:ext cx="7550658"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73352" y="467418"/>
            <a:ext cx="5797296" cy="1188720"/>
          </a:xfrm>
          <a:solidFill>
            <a:srgbClr val="FFFFFF"/>
          </a:solidFill>
        </p:spPr>
        <p:txBody>
          <a:bodyPr>
            <a:normAutofit/>
          </a:bodyPr>
          <a:lstStyle/>
          <a:p>
            <a:r>
              <a:rPr dirty="0"/>
              <a:t>Conclusion</a:t>
            </a:r>
          </a:p>
        </p:txBody>
      </p:sp>
      <p:sp>
        <p:nvSpPr>
          <p:cNvPr id="3" name="Content Placeholder 2"/>
          <p:cNvSpPr>
            <a:spLocks noGrp="1"/>
          </p:cNvSpPr>
          <p:nvPr>
            <p:ph idx="1"/>
          </p:nvPr>
        </p:nvSpPr>
        <p:spPr>
          <a:xfrm>
            <a:off x="1279546" y="2291262"/>
            <a:ext cx="6584634" cy="2879256"/>
          </a:xfrm>
        </p:spPr>
        <p:txBody>
          <a:bodyPr>
            <a:normAutofit/>
          </a:bodyPr>
          <a:lstStyle/>
          <a:p>
            <a:pPr marL="0" indent="0">
              <a:buNone/>
            </a:pPr>
            <a:r>
              <a:rPr lang="en-US">
                <a:solidFill>
                  <a:srgbClr val="404040"/>
                </a:solidFill>
              </a:rPr>
              <a:t>Clustering remains valuable for customer profiling, understanding purchasing patterns, and designing tailored marketing strategies, while supervised models remain the preferred choice for predicting campaign outcomes.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260" y="1248156"/>
            <a:ext cx="726948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6671" y="1060704"/>
            <a:ext cx="7550658"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8CD4BF-96C2-FB99-8EC8-66898F188F55}"/>
              </a:ext>
            </a:extLst>
          </p:cNvPr>
          <p:cNvSpPr>
            <a:spLocks noGrp="1"/>
          </p:cNvSpPr>
          <p:nvPr>
            <p:ph type="title"/>
          </p:nvPr>
        </p:nvSpPr>
        <p:spPr>
          <a:xfrm>
            <a:off x="1673352" y="467418"/>
            <a:ext cx="5797296" cy="1188720"/>
          </a:xfrm>
          <a:solidFill>
            <a:srgbClr val="FFFFFF"/>
          </a:solidFill>
        </p:spPr>
        <p:txBody>
          <a:bodyPr vert="horz" lIns="182880" tIns="182880" rIns="182880" bIns="182880" rtlCol="0" anchor="ctr">
            <a:normAutofit/>
          </a:bodyPr>
          <a:lstStyle/>
          <a:p>
            <a:r>
              <a:rPr lang="en-US" sz="2800" kern="1200" cap="all" spc="200" baseline="0" dirty="0">
                <a:solidFill>
                  <a:srgbClr val="262626"/>
                </a:solidFill>
                <a:latin typeface="+mj-lt"/>
                <a:ea typeface="+mj-ea"/>
                <a:cs typeface="+mj-cs"/>
              </a:rPr>
              <a:t>Thank you for reviewing my project!</a:t>
            </a:r>
          </a:p>
        </p:txBody>
      </p:sp>
      <p:sp>
        <p:nvSpPr>
          <p:cNvPr id="4" name="Title 1">
            <a:extLst>
              <a:ext uri="{FF2B5EF4-FFF2-40B4-BE49-F238E27FC236}">
                <a16:creationId xmlns:a16="http://schemas.microsoft.com/office/drawing/2014/main" id="{AD985F9E-99D8-95B9-E0ED-7574735C1C4C}"/>
              </a:ext>
            </a:extLst>
          </p:cNvPr>
          <p:cNvSpPr txBox="1">
            <a:spLocks/>
          </p:cNvSpPr>
          <p:nvPr/>
        </p:nvSpPr>
        <p:spPr>
          <a:xfrm>
            <a:off x="1279546" y="2291262"/>
            <a:ext cx="6584634" cy="2879256"/>
          </a:xfrm>
          <a:prstGeom prst="rect">
            <a:avLst/>
          </a:prstGeom>
        </p:spPr>
        <p:txBody>
          <a:bodyPr vert="horz" lIns="91440" tIns="45720" rIns="91440" bIns="45720" rtlCol="0">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spcBef>
                <a:spcPts val="1000"/>
              </a:spcBef>
              <a:buClr>
                <a:schemeClr val="accent2"/>
              </a:buClr>
            </a:pPr>
            <a:r>
              <a:rPr lang="en-US" sz="4100" dirty="0" err="1">
                <a:solidFill>
                  <a:srgbClr val="404040"/>
                </a:solidFill>
                <a:latin typeface="+mn-lt"/>
                <a:ea typeface="+mn-ea"/>
                <a:cs typeface="+mn-cs"/>
              </a:rPr>
              <a:t>Github</a:t>
            </a:r>
            <a:r>
              <a:rPr lang="en-US" sz="4100" dirty="0">
                <a:solidFill>
                  <a:srgbClr val="404040"/>
                </a:solidFill>
                <a:latin typeface="+mn-lt"/>
                <a:ea typeface="+mn-ea"/>
                <a:cs typeface="+mn-cs"/>
              </a:rPr>
              <a:t> repository URL</a:t>
            </a:r>
          </a:p>
          <a:p>
            <a:pPr algn="l" defTabSz="914400">
              <a:spcBef>
                <a:spcPts val="1000"/>
              </a:spcBef>
              <a:buClr>
                <a:schemeClr val="accent2"/>
              </a:buClr>
            </a:pPr>
            <a:r>
              <a:rPr lang="en-US" sz="2400" dirty="0">
                <a:solidFill>
                  <a:srgbClr val="404040"/>
                </a:solidFill>
                <a:latin typeface="+mn-lt"/>
                <a:ea typeface="+mn-ea"/>
                <a:cs typeface="+mn-cs"/>
              </a:rPr>
              <a:t>https://</a:t>
            </a:r>
            <a:r>
              <a:rPr lang="en-US" sz="2400" dirty="0" err="1">
                <a:solidFill>
                  <a:srgbClr val="404040"/>
                </a:solidFill>
                <a:latin typeface="+mn-lt"/>
                <a:ea typeface="+mn-ea"/>
                <a:cs typeface="+mn-cs"/>
              </a:rPr>
              <a:t>github.com</a:t>
            </a:r>
            <a:r>
              <a:rPr lang="en-US" sz="2400" dirty="0">
                <a:solidFill>
                  <a:srgbClr val="404040"/>
                </a:solidFill>
                <a:latin typeface="+mn-lt"/>
                <a:ea typeface="+mn-ea"/>
                <a:cs typeface="+mn-cs"/>
              </a:rPr>
              <a:t>/phi-nguyen-95/Discovering-customer-behavioral-patterns</a:t>
            </a:r>
          </a:p>
        </p:txBody>
      </p:sp>
    </p:spTree>
    <p:extLst>
      <p:ext uri="{BB962C8B-B14F-4D97-AF65-F5344CB8AC3E}">
        <p14:creationId xmlns:p14="http://schemas.microsoft.com/office/powerpoint/2010/main" val="188530315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673</TotalTime>
  <Words>902</Words>
  <Application>Microsoft Macintosh PowerPoint</Application>
  <PresentationFormat>On-screen Show (4:3)</PresentationFormat>
  <Paragraphs>67</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Gill Sans MT</vt:lpstr>
      <vt:lpstr>Parcel</vt:lpstr>
      <vt:lpstr>PowerPoint Presentation</vt:lpstr>
      <vt:lpstr>Problem Statement</vt:lpstr>
      <vt:lpstr>What ML approach</vt:lpstr>
      <vt:lpstr>Dataset Overview</vt:lpstr>
      <vt:lpstr>EDA Summary</vt:lpstr>
      <vt:lpstr>Preprocessing</vt:lpstr>
      <vt:lpstr>Dimensionality Reduction</vt:lpstr>
      <vt:lpstr>Clustering Models</vt:lpstr>
      <vt:lpstr>Model Evaluation Metrics</vt:lpstr>
      <vt:lpstr>Clustering Results</vt:lpstr>
      <vt:lpstr>Cluster Size Summary</vt:lpstr>
      <vt:lpstr>Kmeans Cluster Interpretation</vt:lpstr>
      <vt:lpstr>Agglomerative cluster interpretation</vt:lpstr>
      <vt:lpstr>Predictive Evaluation</vt:lpstr>
      <vt:lpstr>Supervised Comparison</vt:lpstr>
      <vt:lpstr>Limitations</vt:lpstr>
      <vt:lpstr>Conclusion</vt:lpstr>
      <vt:lpstr>Thank you for reviewing my project!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Phi Nguyen</cp:lastModifiedBy>
  <cp:revision>6</cp:revision>
  <dcterms:created xsi:type="dcterms:W3CDTF">2013-01-27T09:14:16Z</dcterms:created>
  <dcterms:modified xsi:type="dcterms:W3CDTF">2025-11-16T16:06:01Z</dcterms:modified>
  <cp:category/>
</cp:coreProperties>
</file>